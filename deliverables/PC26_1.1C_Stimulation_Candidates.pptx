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Georgia"/>
              </a:rPr>
              <a:t>PC26 — Objective 1.1C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>
                <a:solidFill>
                  <a:srgbClr val="FDE68A"/>
                </a:solidFill>
                <a:latin typeface="Georgia"/>
              </a:rPr>
              <a:t>Shah SIMSIMA R1 — Stimulation Candidates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Calibri"/>
              </a:rPr>
              <a:t>PI decline ranking · 5 candidates · final-5 defers SY-131, SY-133 backup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TotalEnergies ALSG  ×  ADNOC Onshore    ·    Issued 23-Apr-2026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Confidential — internal decision support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Five stimulation candidates selected from seven-well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115568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▸ </a:t>
            </a:r>
            <a:r>
              <a:rPr sz="1600">
                <a:solidFill>
                  <a:srgbClr val="111827"/>
                </a:solidFill>
                <a:latin typeface="Calibri"/>
              </a:rPr>
              <a:t>Five stimulation candidates selected from 7-well screen (SY-131 deferred; SY-133 backup only).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▸ </a:t>
            </a:r>
            <a:r>
              <a:rPr sz="1600">
                <a:solidFill>
                  <a:srgbClr val="111827"/>
                </a:solidFill>
                <a:latin typeface="Calibri"/>
              </a:rPr>
              <a:t>SY-110 is the lead: PI collapses 8.9 → 0.8 over 5.6 years (−91 %), stable Pres → skin-driven.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▸ </a:t>
            </a:r>
            <a:r>
              <a:rPr sz="1600">
                <a:solidFill>
                  <a:srgbClr val="111827"/>
                </a:solidFill>
                <a:latin typeface="Calibri"/>
              </a:rPr>
              <a:t>SY-069 recent-window decline D = 62 %/yr, longest history (135 tests, 2015-2026).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▸ </a:t>
            </a:r>
            <a:r>
              <a:rPr sz="1600">
                <a:solidFill>
                  <a:srgbClr val="111827"/>
                </a:solidFill>
                <a:latin typeface="Calibri"/>
              </a:rPr>
              <a:t>SY-074 lacks post-ST2 pressure data — PI not computable; formal PBU survey mandatory pre-stim.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▸ </a:t>
            </a:r>
            <a:r>
              <a:rPr sz="1600">
                <a:solidFill>
                  <a:srgbClr val="111827"/>
                </a:solidFill>
                <a:latin typeface="Calibri"/>
              </a:rPr>
              <a:t>SY-120 decline is pressure-driven (ΔPres ≈ −200 psi), only 6 %/yr PI degradation — sustain play.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▸ </a:t>
            </a:r>
            <a:r>
              <a:rPr sz="1600">
                <a:solidFill>
                  <a:srgbClr val="111827"/>
                </a:solidFill>
                <a:latin typeface="Calibri"/>
              </a:rPr>
              <a:t>No formal stim-event logs in dataset: only 4 confirmed events (recompletion/ST2/startup); rest inferred from Qo step-ups.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PC26 · Obj 1.1C · Shah Field · TotalEnergies ALSG × ADNOC Onshore · 2026-04-23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Reservoir context — Shah SIMSIMA R1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Dual-media fractured carbonate; only one in ADNOC Onshore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STOOIP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1887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3,439 MMSTB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Np (12/2022)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6002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590 MMBBL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Recovery factor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0116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17.2%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2316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Bubble point Pb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42316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392 psi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3464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Solution GOR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8346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100 scf/stb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4612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Oil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2461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30°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18872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Oil viscosity @ Pb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11887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2.3 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6002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Reservoir 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16002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Dual-media fractured carbonate (only one in ADNOC Onshore)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01168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SH Guideline Max Qo (R1 H)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20116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2,000 BOPD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42316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SH Guideline Max GOR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242316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450 scf/bbl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83464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SH Guideline Min BHFP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28346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1,232 psia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24612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SH Guideline Max WI 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32461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1,800 bwpd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6576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SH Guideline Max BHIP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6576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7,400 psia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1143000"/>
            <a:ext cx="18288" cy="48463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PC26 · Obj 1.1C · Shah Field · TotalEnergies ALSG × ADNOC Onshore · 2026-04-23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Candidate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All seven wells · D %/yr is log-linear fit of valid PI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777240" cy="41148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777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1188720"/>
            <a:ext cx="3291840" cy="41148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188720"/>
            <a:ext cx="329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Category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1188720"/>
            <a:ext cx="822960" cy="41148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188720"/>
            <a:ext cx="82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1188720"/>
            <a:ext cx="640080" cy="41148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9240" y="1188720"/>
            <a:ext cx="64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Tests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188720"/>
            <a:ext cx="640080" cy="41148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188720"/>
            <a:ext cx="64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PI pts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1188720"/>
            <a:ext cx="1554480" cy="41148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1188720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PI first → last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80" y="1188720"/>
            <a:ext cx="822960" cy="41148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80" y="1188720"/>
            <a:ext cx="82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PI Δ 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840" y="1188720"/>
            <a:ext cx="777240" cy="41148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1188720"/>
            <a:ext cx="777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 %/yr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84080" y="1188720"/>
            <a:ext cx="640080" cy="41148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1188720"/>
            <a:ext cx="64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24160" y="1188720"/>
            <a:ext cx="822960" cy="41148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0" y="1188720"/>
            <a:ext cx="82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Qo last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1600200"/>
            <a:ext cx="77724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200" y="1600200"/>
            <a:ext cx="737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Calibri"/>
              </a:rPr>
              <a:t>SY-069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34440" y="1600200"/>
            <a:ext cx="329184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54440" y="1600200"/>
            <a:ext cx="325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PI degradation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26280" y="1600200"/>
            <a:ext cx="82296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46280" y="160020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Calibri"/>
              </a:rPr>
              <a:t>Final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9240" y="1600200"/>
            <a:ext cx="6400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69240" y="160020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135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89320" y="1600200"/>
            <a:ext cx="6400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09320" y="160020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27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1600200"/>
            <a:ext cx="15544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49400" y="1600200"/>
            <a:ext cx="151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1.99 → 0.28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83880" y="1600200"/>
            <a:ext cx="82296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03880" y="160020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-86%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06840" y="1600200"/>
            <a:ext cx="77724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26840" y="1600200"/>
            <a:ext cx="737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+46.2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84080" y="1600200"/>
            <a:ext cx="6400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04080" y="160020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0.34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1600200"/>
            <a:ext cx="82296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4160" y="160020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136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2011680"/>
            <a:ext cx="77724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7200" y="2011680"/>
            <a:ext cx="737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Calibri"/>
              </a:rPr>
              <a:t>SY-110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34440" y="2011680"/>
            <a:ext cx="329184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54440" y="2011680"/>
            <a:ext cx="325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PI degradation (deposition flagged)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26280" y="2011680"/>
            <a:ext cx="82296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46280" y="201168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Calibri"/>
              </a:rPr>
              <a:t>Final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49240" y="2011680"/>
            <a:ext cx="6400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69240" y="201168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89320" y="2011680"/>
            <a:ext cx="6400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09320" y="201168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62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629400" y="2011680"/>
            <a:ext cx="15544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49400" y="2011680"/>
            <a:ext cx="151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9.21 → 0.77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83880" y="2011680"/>
            <a:ext cx="82296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03880" y="201168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-92%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006840" y="2011680"/>
            <a:ext cx="77724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26840" y="2011680"/>
            <a:ext cx="737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+41.4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784080" y="2011680"/>
            <a:ext cx="6400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804080" y="201168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0.59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424160" y="2011680"/>
            <a:ext cx="82296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44160" y="201168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275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" y="2423160"/>
            <a:ext cx="77724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7200" y="2423160"/>
            <a:ext cx="737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Calibri"/>
              </a:rPr>
              <a:t>SY-120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234440" y="2423160"/>
            <a:ext cx="329184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54440" y="2423160"/>
            <a:ext cx="325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High dolomitization (best performer, declining)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26280" y="2423160"/>
            <a:ext cx="82296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46280" y="242316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Calibri"/>
              </a:rPr>
              <a:t>Final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49240" y="2423160"/>
            <a:ext cx="6400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69240" y="242316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100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89320" y="2423160"/>
            <a:ext cx="6400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09320" y="242316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20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2423160"/>
            <a:ext cx="15544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49400" y="2423160"/>
            <a:ext cx="151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29.62 → 44.62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183880" y="2423160"/>
            <a:ext cx="82296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03880" y="242316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+51%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06840" y="2423160"/>
            <a:ext cx="77724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26840" y="2423160"/>
            <a:ext cx="737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-6.9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784080" y="2423160"/>
            <a:ext cx="6400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804080" y="242316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0.17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424160" y="2423160"/>
            <a:ext cx="82296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44160" y="242316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651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2834640"/>
            <a:ext cx="77724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7200" y="2834640"/>
            <a:ext cx="737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Calibri"/>
              </a:rPr>
              <a:t>SY-074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234440" y="2834640"/>
            <a:ext cx="329184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254440" y="2834640"/>
            <a:ext cx="325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High dolomitization (recent sidetrack, fastest decline)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26280" y="2834640"/>
            <a:ext cx="82296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546280" y="283464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Calibri"/>
              </a:rPr>
              <a:t>Final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349240" y="2834640"/>
            <a:ext cx="6400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369240" y="283464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30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89320" y="2834640"/>
            <a:ext cx="6400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009320" y="283464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629400" y="2834640"/>
            <a:ext cx="15544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649400" y="2834640"/>
            <a:ext cx="151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— → —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83880" y="2834640"/>
            <a:ext cx="82296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03880" y="283464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06840" y="2834640"/>
            <a:ext cx="77724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26840" y="2834640"/>
            <a:ext cx="737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4080" y="2834640"/>
            <a:ext cx="6400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804080" y="283464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424160" y="2834640"/>
            <a:ext cx="82296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444160" y="283464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144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57200" y="3246120"/>
            <a:ext cx="77724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7200" y="3246120"/>
            <a:ext cx="737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Calibri"/>
              </a:rPr>
              <a:t>SY-146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234440" y="3246120"/>
            <a:ext cx="329184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254440" y="3246120"/>
            <a:ext cx="325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Water injector — poor injectivity (KoM scope)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26280" y="3246120"/>
            <a:ext cx="82296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46280" y="324612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Calibri"/>
              </a:rPr>
              <a:t>Final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349240" y="3246120"/>
            <a:ext cx="6400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369240" y="324612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0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989320" y="3246120"/>
            <a:ext cx="6400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009320" y="324612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629400" y="3246120"/>
            <a:ext cx="15544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649400" y="3246120"/>
            <a:ext cx="151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— → —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183880" y="3246120"/>
            <a:ext cx="82296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203880" y="324612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006840" y="3246120"/>
            <a:ext cx="77724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026840" y="3246120"/>
            <a:ext cx="737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784080" y="3246120"/>
            <a:ext cx="64008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804080" y="324612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424160" y="3246120"/>
            <a:ext cx="822960" cy="41148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444160" y="324612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57200" y="3657600"/>
            <a:ext cx="777240" cy="411480"/>
          </a:xfrm>
          <a:prstGeom prst="rect">
            <a:avLst/>
          </a:prstGeom>
          <a:solidFill>
            <a:srgbClr val="FEF3C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77200" y="3657600"/>
            <a:ext cx="737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Calibri"/>
              </a:rPr>
              <a:t>SY-133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234440" y="3657600"/>
            <a:ext cx="3291840" cy="411480"/>
          </a:xfrm>
          <a:prstGeom prst="rect">
            <a:avLst/>
          </a:prstGeom>
          <a:solidFill>
            <a:srgbClr val="FEF3C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254440" y="3657600"/>
            <a:ext cx="325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PI degradation (worst performer, high WC)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526280" y="3657600"/>
            <a:ext cx="822960" cy="411480"/>
          </a:xfrm>
          <a:prstGeom prst="rect">
            <a:avLst/>
          </a:prstGeom>
          <a:solidFill>
            <a:srgbClr val="FEF3C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546280" y="365760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Calibri"/>
              </a:rPr>
              <a:t>Backup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349240" y="3657600"/>
            <a:ext cx="640080" cy="411480"/>
          </a:xfrm>
          <a:prstGeom prst="rect">
            <a:avLst/>
          </a:prstGeom>
          <a:solidFill>
            <a:srgbClr val="FEF3C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369240" y="365760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81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989320" y="3657600"/>
            <a:ext cx="640080" cy="411480"/>
          </a:xfrm>
          <a:prstGeom prst="rect">
            <a:avLst/>
          </a:prstGeom>
          <a:solidFill>
            <a:srgbClr val="FEF3C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09320" y="365760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79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629400" y="3657600"/>
            <a:ext cx="1554480" cy="411480"/>
          </a:xfrm>
          <a:prstGeom prst="rect">
            <a:avLst/>
          </a:prstGeom>
          <a:solidFill>
            <a:srgbClr val="FEF3C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649400" y="3657600"/>
            <a:ext cx="151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2.01 → 0.56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183880" y="3657600"/>
            <a:ext cx="822960" cy="411480"/>
          </a:xfrm>
          <a:prstGeom prst="rect">
            <a:avLst/>
          </a:prstGeom>
          <a:solidFill>
            <a:srgbClr val="FEF3C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203880" y="365760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-72%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006840" y="3657600"/>
            <a:ext cx="777240" cy="411480"/>
          </a:xfrm>
          <a:prstGeom prst="rect">
            <a:avLst/>
          </a:prstGeom>
          <a:solidFill>
            <a:srgbClr val="FEF3C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026840" y="3657600"/>
            <a:ext cx="737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+16.5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9784080" y="3657600"/>
            <a:ext cx="640080" cy="411480"/>
          </a:xfrm>
          <a:prstGeom prst="rect">
            <a:avLst/>
          </a:prstGeom>
          <a:solidFill>
            <a:srgbClr val="FEF3C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804080" y="365760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0.23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0424160" y="3657600"/>
            <a:ext cx="822960" cy="411480"/>
          </a:xfrm>
          <a:prstGeom prst="rect">
            <a:avLst/>
          </a:prstGeom>
          <a:solidFill>
            <a:srgbClr val="FEF3C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0444160" y="365760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58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57200" y="4069080"/>
            <a:ext cx="777240" cy="411480"/>
          </a:xfrm>
          <a:prstGeom prst="rect">
            <a:avLst/>
          </a:prstGeom>
          <a:solidFill>
            <a:srgbClr val="FEE2E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77200" y="4069080"/>
            <a:ext cx="737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Calibri"/>
              </a:rPr>
              <a:t>SY-131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234440" y="4069080"/>
            <a:ext cx="3291840" cy="411480"/>
          </a:xfrm>
          <a:prstGeom prst="rect">
            <a:avLst/>
          </a:prstGeom>
          <a:solidFill>
            <a:srgbClr val="FEE2E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254440" y="4069080"/>
            <a:ext cx="325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PI degradation (KoM example list)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526280" y="4069080"/>
            <a:ext cx="822960" cy="411480"/>
          </a:xfrm>
          <a:prstGeom prst="rect">
            <a:avLst/>
          </a:prstGeom>
          <a:solidFill>
            <a:srgbClr val="FEE2E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546280" y="406908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Calibri"/>
              </a:rPr>
              <a:t>Defer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5349240" y="4069080"/>
            <a:ext cx="640080" cy="411480"/>
          </a:xfrm>
          <a:prstGeom prst="rect">
            <a:avLst/>
          </a:prstGeom>
          <a:solidFill>
            <a:srgbClr val="FEE2E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369240" y="406908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80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989320" y="4069080"/>
            <a:ext cx="640080" cy="411480"/>
          </a:xfrm>
          <a:prstGeom prst="rect">
            <a:avLst/>
          </a:prstGeom>
          <a:solidFill>
            <a:srgbClr val="FEE2E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009320" y="406908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59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629400" y="4069080"/>
            <a:ext cx="1554480" cy="411480"/>
          </a:xfrm>
          <a:prstGeom prst="rect">
            <a:avLst/>
          </a:prstGeom>
          <a:solidFill>
            <a:srgbClr val="FEE2E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649400" y="4069080"/>
            <a:ext cx="151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1.03 → 1.42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183880" y="4069080"/>
            <a:ext cx="822960" cy="411480"/>
          </a:xfrm>
          <a:prstGeom prst="rect">
            <a:avLst/>
          </a:prstGeom>
          <a:solidFill>
            <a:srgbClr val="FEE2E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03880" y="406908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+38%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006840" y="4069080"/>
            <a:ext cx="777240" cy="411480"/>
          </a:xfrm>
          <a:prstGeom prst="rect">
            <a:avLst/>
          </a:prstGeom>
          <a:solidFill>
            <a:srgbClr val="FEE2E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026840" y="4069080"/>
            <a:ext cx="737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+2.6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9784080" y="4069080"/>
            <a:ext cx="640080" cy="411480"/>
          </a:xfrm>
          <a:prstGeom prst="rect">
            <a:avLst/>
          </a:prstGeom>
          <a:solidFill>
            <a:srgbClr val="FEE2E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9804080" y="4069080"/>
            <a:ext cx="60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0.01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10424160" y="4069080"/>
            <a:ext cx="822960" cy="411480"/>
          </a:xfrm>
          <a:prstGeom prst="rect">
            <a:avLst/>
          </a:prstGeom>
          <a:solidFill>
            <a:srgbClr val="FEE2E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10444160" y="4069080"/>
            <a:ext cx="78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Calibri"/>
              </a:rPr>
              <a:t>326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PC26 · Obj 1.1C · Shah Field · TotalEnergies ALSG × ADNOC Onshore · 2026-04-23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PI decline 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Log-linear fit of valid PI points (BHFP = PIP + Δ per well)</a:t>
            </a:r>
          </a:p>
        </p:txBody>
      </p:sp>
      <p:pic>
        <p:nvPicPr>
          <p:cNvPr id="6" name="Picture 5" descr="pi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804672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869680" y="1188720"/>
            <a:ext cx="3017520" cy="438912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0" y="128016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2540"/>
                </a:solidFill>
                <a:latin typeface="Georgia"/>
              </a:rPr>
              <a:t>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1645920"/>
            <a:ext cx="29260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▸ </a:t>
            </a:r>
            <a:r>
              <a:rPr sz="1100">
                <a:solidFill>
                  <a:srgbClr val="111827"/>
                </a:solidFill>
                <a:latin typeface="Calibri"/>
              </a:rPr>
              <a:t>Green bars: D ≥ 15 %/yr — active PI degradation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▸ </a:t>
            </a:r>
            <a:r>
              <a:rPr sz="1100">
                <a:solidFill>
                  <a:srgbClr val="111827"/>
                </a:solidFill>
                <a:latin typeface="Calibri"/>
              </a:rPr>
              <a:t>Amber bars: 0-15 %/yr — mild decline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▸ </a:t>
            </a:r>
            <a:r>
              <a:rPr sz="1100">
                <a:solidFill>
                  <a:srgbClr val="111827"/>
                </a:solidFill>
                <a:latin typeface="Calibri"/>
              </a:rPr>
              <a:t>Blue bars: D &lt; 0 — PI actually increased (not a stim case)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▸ </a:t>
            </a:r>
            <a:r>
              <a:rPr sz="1100">
                <a:solidFill>
                  <a:srgbClr val="111827"/>
                </a:solidFill>
                <a:latin typeface="Calibri"/>
              </a:rPr>
              <a:t>SY-074 not rendered — insufficient PI points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▸ </a:t>
            </a:r>
            <a:r>
              <a:rPr sz="1100">
                <a:solidFill>
                  <a:srgbClr val="111827"/>
                </a:solidFill>
                <a:latin typeface="Calibri"/>
              </a:rPr>
              <a:t>SY-146 not rendered — water-injector, no oil 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PC26 · Obj 1.1C · Shah Field · TotalEnergies ALSG × ADNOC Onshore · 2026-04-23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SY-110 — PI degradation (deposition flagged)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SIMSIMA R1 · Horizontal · completion 2023-01-31</a:t>
            </a:r>
          </a:p>
        </p:txBody>
      </p:sp>
      <p:pic>
        <p:nvPicPr>
          <p:cNvPr id="6" name="Picture 5" descr="well_SY-1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675120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0" y="1097280"/>
            <a:ext cx="4480560" cy="329184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1887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A2540"/>
                </a:solidFill>
                <a:latin typeface="Georgia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00200"/>
            <a:ext cx="42062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Most severe candidate: D = 53 %/yr, PI collapses 8.9 → 0.8 (−91 % over 5.6 y). Reservoir pressure stable 985→1015 psi — decline is skin/deposition-driven, not depletion.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4572000"/>
            <a:ext cx="4480560" cy="1554480"/>
          </a:xfrm>
          <a:prstGeom prst="rect">
            <a:avLst/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46634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Georgia"/>
              </a:rPr>
              <a:t>Why 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5074920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Longest, most severe decline; stable Pres — skin-driven; scale-dissolver pre-flush + HCl.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PC26 · Obj 1.1C · Shah Field · TotalEnergies ALSG × ADNOC Onshore · 2026-04-23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SY-069 — PI degradation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SIMSIMA R1 · Horizontal · completion 2023-01-17</a:t>
            </a:r>
          </a:p>
        </p:txBody>
      </p:sp>
      <p:pic>
        <p:nvPicPr>
          <p:cNvPr id="6" name="Picture 5" descr="well_SY-0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675120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0" y="1097280"/>
            <a:ext cx="4480560" cy="329184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1887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A2540"/>
                </a:solidFill>
                <a:latin typeface="Georgia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00200"/>
            <a:ext cx="42062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Recent-window D = 62 %/yr (shorter valid window — only one formal Pres survey in Nov-2024 limits PI calculation to ±365 d around that date). Longest history in set (135 tests, 2015-2026) ideal for benchmarking.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4572000"/>
            <a:ext cx="4480560" cy="1554480"/>
          </a:xfrm>
          <a:prstGeom prst="rect">
            <a:avLst/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46634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Georgia"/>
              </a:rPr>
              <a:t>Why 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5074920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135-test history ideal for bench-marking; decline accelerating; HCl + naphtha 2-stage baseline.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PC26 · Obj 1.1C · Shah Field · TotalEnergies ALSG × ADNOC Onshore · 2026-04-23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SY-074 — High dolomitization (recent sidetrack, fastest decline)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SIMSIMA R1 · Horizontal (ST2 side-tracked Q3-2024) · completion 2024-08-11</a:t>
            </a:r>
          </a:p>
        </p:txBody>
      </p:sp>
      <p:pic>
        <p:nvPicPr>
          <p:cNvPr id="6" name="Picture 5" descr="well_SY-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675120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0" y="1097280"/>
            <a:ext cx="4480560" cy="329184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1887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A2540"/>
                </a:solidFill>
                <a:latin typeface="Georgia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00200"/>
            <a:ext cx="42062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PI NOT computable — only the 2016 pre-sidetrack GRAD survey is available and the current well is on the new ST2 lateral (Aug-2024). Qualitative case is clear: 560 → 144 BOPD (−74 %) in 18 months, WC 3.5 → 42 %. Pre-stim formal PBU mandatory.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4572000"/>
            <a:ext cx="4480560" cy="1554480"/>
          </a:xfrm>
          <a:prstGeom prst="rect">
            <a:avLst/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46634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Georgia"/>
              </a:rPr>
              <a:t>Why 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5074920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New ST2 lateral (Aug-2024) never stimulated; mud-cake damage likely; PBU + PLT pre-job mandatory.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PC26 · Obj 1.1C · Shah Field · TotalEnergies ALSG × ADNOC Onshore · 2026-04-23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SY-120 — High dolomitization (best performer, declining)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SIMSIMA R1 · Horizontal · completion ~2020</a:t>
            </a:r>
          </a:p>
        </p:txBody>
      </p:sp>
      <p:pic>
        <p:nvPicPr>
          <p:cNvPr id="6" name="Picture 5" descr="well_SY-1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675120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0" y="1097280"/>
            <a:ext cx="4480560" cy="329184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1887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A2540"/>
                </a:solidFill>
                <a:latin typeface="Georgia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00200"/>
            <a:ext cx="42062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Only 6 %/yr PI decline despite ~200 psi Pres depletion (932 → 735 psi, 2021→2024). Decline is pressure-driven, not skin — stimulation gain will be modest; candidate is about sustaining peak deliverability (still producing 651 BOPD, recent peak 1486 BOPD).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4572000"/>
            <a:ext cx="4480560" cy="1554480"/>
          </a:xfrm>
          <a:prstGeom prst="rect">
            <a:avLst/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46634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Georgia"/>
              </a:rPr>
              <a:t>Why 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5074920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Sustain-play — avoid over-drawdown (Pb=392); dolomite-tailored acid; Y-tool allows CT-conveyed treatment.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PC26 · Obj 1.1C · Shah Field · TotalEnergies ALSG × ADNOC Onshore · 2026-04-23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SY-146 — Water injector — poor injectivity (KoM scope)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SIMSIMA R1 · Horizontal water injector · completion 2025-07-10</a:t>
            </a:r>
          </a:p>
        </p:txBody>
      </p:sp>
      <p:pic>
        <p:nvPicPr>
          <p:cNvPr id="6" name="Picture 5" descr="well_SY-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675120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0" y="1097280"/>
            <a:ext cx="4480560" cy="3291840"/>
          </a:xfrm>
          <a:prstGeom prst="rect">
            <a:avLst/>
          </a:prstGeom>
          <a:solidFill>
            <a:srgbClr val="F0FD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1887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A2540"/>
                </a:solidFill>
                <a:latin typeface="Georgia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00200"/>
            <a:ext cx="42062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Supporting candidate — data-only: 2 formal pressure anchors (May-2025 BHCIP 2090 psi, Sep-2025 GRAD 1790 psi). No production PI applies (water injector). Narrative pending additional post-completion injectivity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4572000"/>
            <a:ext cx="4480560" cy="1554480"/>
          </a:xfrm>
          <a:prstGeom prst="rect">
            <a:avLst/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46634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Georgia"/>
              </a:rPr>
              <a:t>Why 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5074920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Injectivity stim — naphtha pre-flush + HCl main; Hall-plot analysis pre/post; recent completion requires baseline.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PC26 · Obj 1.1C · Shah Field · TotalEnergies ALSG × ADNOC Onshore · 2026-04-23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Data gaps &amp; caveats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Interpretation risks the rig schedule must acknowledge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15568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▸ </a:t>
            </a:r>
            <a:r>
              <a:rPr sz="1400">
                <a:solidFill>
                  <a:srgbClr val="111827"/>
                </a:solidFill>
                <a:latin typeface="Calibri"/>
              </a:rPr>
              <a:t>No formal stimulation-event database — only completion/sidetrack/startup dates are confirmed.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▸ </a:t>
            </a:r>
            <a:r>
              <a:rPr sz="1400">
                <a:solidFill>
                  <a:srgbClr val="111827"/>
                </a:solidFill>
                <a:latin typeface="Calibri"/>
              </a:rPr>
              <a:t>SY-074 has a single pre-ST2 (2016, R2 layer) pressure survey — cannot calibrate PI for current ST2 lateral.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▸ </a:t>
            </a:r>
            <a:r>
              <a:rPr sz="1400">
                <a:solidFill>
                  <a:srgbClr val="111827"/>
                </a:solidFill>
                <a:latin typeface="Calibri"/>
              </a:rPr>
              <a:t>SY-069 has a single formal Pres survey (Nov-2024) — valid PI window is ±365 d around that date.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▸ </a:t>
            </a:r>
            <a:r>
              <a:rPr sz="1400">
                <a:solidFill>
                  <a:srgbClr val="111827"/>
                </a:solidFill>
                <a:latin typeface="Calibri"/>
              </a:rPr>
              <a:t>SY-131 PI trend is positive +15 % — narrative-level examples from KoM list are not supported by the data.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▸ </a:t>
            </a:r>
            <a:r>
              <a:rPr sz="1400">
                <a:solidFill>
                  <a:srgbClr val="111827"/>
                </a:solidFill>
                <a:latin typeface="Calibri"/>
              </a:rPr>
              <a:t>SY-133 decline is water-coning dominated (WC 1.7 → 51 %) — PI fit D = 24 %/yr masks the true mechanism.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▸ </a:t>
            </a:r>
            <a:r>
              <a:rPr sz="1400">
                <a:solidFill>
                  <a:srgbClr val="111827"/>
                </a:solidFill>
                <a:latin typeface="Calibri"/>
              </a:rPr>
              <a:t>Shah Q2-2026 Allowable workbook was not accessible to the pipeline — survey anchors and BHFP Δ taken from the prior v1 deliverable and the resume-prompt calibration 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PC26 · Obj 1.1C · Shah Field · TotalEnergies ALSG × ADNOC Onshore · 2026-04-23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Conclusions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Stimulation sequence, pre-job acquisition, and gating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15568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▸ </a:t>
            </a:r>
            <a:r>
              <a:rPr sz="1400">
                <a:solidFill>
                  <a:srgbClr val="111827"/>
                </a:solidFill>
                <a:latin typeface="Calibri"/>
              </a:rPr>
              <a:t>Execute SY-110 first — highest decline, stable Pres, clear skin/deposition signal, deposition-tailored recipe (scale pre-flush + HCl).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▸ </a:t>
            </a:r>
            <a:r>
              <a:rPr sz="1400">
                <a:solidFill>
                  <a:srgbClr val="111827"/>
                </a:solidFill>
                <a:latin typeface="Calibri"/>
              </a:rPr>
              <a:t>Queue SY-069 second — long history + recent steep decline; 15 % HCl + naphtha 2-stage baseline.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▸ </a:t>
            </a:r>
            <a:r>
              <a:rPr sz="1400">
                <a:solidFill>
                  <a:srgbClr val="111827"/>
                </a:solidFill>
                <a:latin typeface="Calibri"/>
              </a:rPr>
              <a:t>SY-074 requires a formal PBU survey before stim; pre-job PLT mandatory to map ST2 inflow.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▸ </a:t>
            </a:r>
            <a:r>
              <a:rPr sz="1400">
                <a:solidFill>
                  <a:srgbClr val="111827"/>
                </a:solidFill>
                <a:latin typeface="Calibri"/>
              </a:rPr>
              <a:t>SY-120 is the sustain-play candidate — dolomite-tailored recipe, avoid over-drawdown (Pb = 392 psi).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▸ </a:t>
            </a:r>
            <a:r>
              <a:rPr sz="1400">
                <a:solidFill>
                  <a:srgbClr val="111827"/>
                </a:solidFill>
                <a:latin typeface="Calibri"/>
              </a:rPr>
              <a:t>SY-146 injectivity stim: naphtha pre-flush + HCl main stage; Hall-plot analysis pre/post.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▸ </a:t>
            </a:r>
            <a:r>
              <a:rPr sz="1400">
                <a:solidFill>
                  <a:srgbClr val="111827"/>
                </a:solidFill>
                <a:latin typeface="Calibri"/>
              </a:rPr>
              <a:t>Defer SY-131 (no real PI degradation); hold SY-133 as backup (needs WSO + PLT).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▸ </a:t>
            </a:r>
            <a:r>
              <a:rPr sz="1400">
                <a:solidFill>
                  <a:srgbClr val="111827"/>
                </a:solidFill>
                <a:latin typeface="Calibri"/>
              </a:rPr>
              <a:t>Request Q2-2026 Allowable + formal stim-event register from operator before rig schedule finalisation.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PC26 · Obj 1.1C · Shah Field · TotalEnergies ALSG × ADNOC Onshore · 2026-04-23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