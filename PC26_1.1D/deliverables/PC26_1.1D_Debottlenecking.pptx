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1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2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charts/chart3.xml" ContentType="application/vnd.openxmlformats-officedocument.drawingml.chart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BOPD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FAR (actual)</c:v>
                  </c:pt>
                  <c:pt idx="1">
                    <c:v>Allowable</c:v>
                  </c:pt>
                  <c:pt idx="2">
                    <c:v>TR</c:v>
                  </c:pt>
                  <c:pt idx="3">
                    <c:v>Allow incl. inactive</c:v>
                  </c:pt>
                  <c:pt idx="4">
                    <c:v>Ceiling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75733</c:v>
                </c:pt>
                <c:pt idx="1">
                  <c:v>76671</c:v>
                </c:pt>
                <c:pt idx="2">
                  <c:v>79983</c:v>
                </c:pt>
                <c:pt idx="3">
                  <c:v>80591</c:v>
                </c:pt>
                <c:pt idx="4">
                  <c:v>102752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4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stack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</c:v>
                </c:pt>
              </c:strCache>
            </c:strRef>
          </c:tx>
          <c:spPr>
            <a:solidFill>
              <a:srgbClr val="FFFFF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Start</c:v>
                  </c:pt>
                  <c:pt idx="1">
                    <c:v>§4.5</c:v>
                  </c:pt>
                  <c:pt idx="2">
                    <c:v>§4.7</c:v>
                  </c:pt>
                  <c:pt idx="3">
                    <c:v>§4.6</c:v>
                  </c:pt>
                  <c:pt idx="4">
                    <c:v>§4.1</c:v>
                  </c:pt>
                  <c:pt idx="5">
                    <c:v>§4.3</c:v>
                  </c:pt>
                  <c:pt idx="6">
                    <c:v>§4.4</c:v>
                  </c:pt>
                  <c:pt idx="7">
                    <c:v>§4.2</c:v>
                  </c:pt>
                  <c:pt idx="8">
                    <c:v>§4.8</c:v>
                  </c:pt>
                  <c:pt idx="9">
                    <c:v>Target</c:v>
                  </c:pt>
                </c:lvl>
              </c:multiLvlStrCache>
            </c:multiLvl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</c:v>
                </c:pt>
                <c:pt idx="1">
                  <c:v>75733</c:v>
                </c:pt>
                <c:pt idx="2">
                  <c:v>78233</c:v>
                </c:pt>
                <c:pt idx="3">
                  <c:v>79733</c:v>
                </c:pt>
                <c:pt idx="4">
                  <c:v>81733</c:v>
                </c:pt>
                <c:pt idx="5">
                  <c:v>83608</c:v>
                </c:pt>
                <c:pt idx="6">
                  <c:v>84808</c:v>
                </c:pt>
                <c:pt idx="7">
                  <c:v>85408</c:v>
                </c:pt>
                <c:pt idx="8">
                  <c:v>86308</c:v>
                </c:pt>
                <c:pt idx="9">
                  <c:v>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F59E0B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Sheet1!$A$2:$A$11</c:f>
              <c:multiLvlStrCache>
                <c:ptCount val="10"/>
                <c:lvl>
                  <c:pt idx="0">
                    <c:v>Start</c:v>
                  </c:pt>
                  <c:pt idx="1">
                    <c:v>§4.5</c:v>
                  </c:pt>
                  <c:pt idx="2">
                    <c:v>§4.7</c:v>
                  </c:pt>
                  <c:pt idx="3">
                    <c:v>§4.6</c:v>
                  </c:pt>
                  <c:pt idx="4">
                    <c:v>§4.1</c:v>
                  </c:pt>
                  <c:pt idx="5">
                    <c:v>§4.3</c:v>
                  </c:pt>
                  <c:pt idx="6">
                    <c:v>§4.4</c:v>
                  </c:pt>
                  <c:pt idx="7">
                    <c:v>§4.2</c:v>
                  </c:pt>
                  <c:pt idx="8">
                    <c:v>§4.8</c:v>
                  </c:pt>
                  <c:pt idx="9">
                    <c:v>Target</c:v>
                  </c:pt>
                </c:lvl>
              </c:multiLvlStrCache>
            </c:multiLvlStrRef>
          </c:cat>
          <c:val>
            <c:numRef>
              <c:f>Sheet1!$C$2:$C$11</c:f>
              <c:numCache>
                <c:formatCode>General</c:formatCode>
                <c:ptCount val="10"/>
                <c:pt idx="0">
                  <c:v>75733</c:v>
                </c:pt>
                <c:pt idx="1">
                  <c:v>2500</c:v>
                </c:pt>
                <c:pt idx="2">
                  <c:v>1500</c:v>
                </c:pt>
                <c:pt idx="3">
                  <c:v>2000</c:v>
                </c:pt>
                <c:pt idx="4">
                  <c:v>1875</c:v>
                </c:pt>
                <c:pt idx="5">
                  <c:v>1200</c:v>
                </c:pt>
                <c:pt idx="6">
                  <c:v>600</c:v>
                </c:pt>
                <c:pt idx="7">
                  <c:v>900</c:v>
                </c:pt>
                <c:pt idx="8">
                  <c:v>1000</c:v>
                </c:pt>
                <c:pt idx="9">
                  <c:v>87308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gapWidth val="50"/>
        <c:overlap val="10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92000"/>
          <c:min val="70000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Y</c:v>
                </c:pt>
              </c:strCache>
            </c:strRef>
          </c:tx>
          <c:spPr>
            <a:solidFill>
              <a:srgbClr val="F59E0B"/>
            </a:solidFill>
            <a:ln>
              <a:noFill/>
            </a:ln>
            <a:effectLst/>
          </c:spPr>
          <c:marker>
            <c:symbol val="circle"/>
            <c:size val="16"/>
            <c:spPr>
              <a:solidFill>
                <a:srgbClr val="F59E0B"/>
              </a:solidFill>
              <a:ln w="9525" cap="flat">
                <a:solidFill>
                  <a:srgbClr val="F59E0B"/>
                </a:solidFill>
                <a:prstDash val="solid"/>
                <a:round/>
              </a:ln>
              <a:effectLst/>
            </c:spPr>
          </c:marker>
          <c:xVal>
            <c:numRef>
              <c:f>Sheet1!$A$2:$A$9</c:f>
              <c:numCache>
                <c:formatCode>General</c:formatCode>
                <c:ptCount val="8"/>
                <c:pt idx="0">
                  <c:v>15</c:v>
                </c:pt>
                <c:pt idx="1">
                  <c:v>4.1</c:v>
                </c:pt>
                <c:pt idx="2">
                  <c:v>1</c:v>
                </c:pt>
                <c:pt idx="3">
                  <c:v>10</c:v>
                </c:pt>
                <c:pt idx="4">
                  <c:v>3.6</c:v>
                </c:pt>
                <c:pt idx="5">
                  <c:v>2.6</c:v>
                </c:pt>
                <c:pt idx="6">
                  <c:v>0.35</c:v>
                </c:pt>
                <c:pt idx="7">
                  <c:v>0.75</c:v>
                </c:pt>
              </c:numCache>
            </c:numRef>
          </c:xVal>
          <c:yVal>
            <c:numRef>
              <c:f>Sheet1!$B$2:$B$9</c:f>
              <c:numCache>
                <c:formatCode>General</c:formatCode>
                <c:ptCount val="8"/>
                <c:pt idx="0">
                  <c:v>3250</c:v>
                </c:pt>
                <c:pt idx="1">
                  <c:v>2000</c:v>
                </c:pt>
                <c:pt idx="2">
                  <c:v>2200</c:v>
                </c:pt>
                <c:pt idx="3">
                  <c:v>2500</c:v>
                </c:pt>
                <c:pt idx="4">
                  <c:v>1600</c:v>
                </c:pt>
                <c:pt idx="5">
                  <c:v>800</c:v>
                </c:pt>
                <c:pt idx="6">
                  <c:v>900</c:v>
                </c:pt>
                <c:pt idx="7">
                  <c:v>1000</c:v>
                </c:pt>
              </c:numCache>
            </c:numRef>
          </c:yVal>
          <c:smooth val="0"/>
        </c:ser>
        <c:dLbls>
          <c:numFmt formatCode="General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0"/>
          <c:showCatName val="0"/>
          <c:showSerName val="0"/>
          <c:showPercent val="0"/>
          <c:showBubbleSize val="0"/>
        </c:dLbls>
        <c:axId val="2094734554"/>
        <c:axId val="2094734552"/>
      </c:scatterChart>
      <c:valAx>
        <c:axId val="2094734554"/>
        <c:scaling>
          <c:orientation val="minMax"/>
        </c:scaling>
        <c:delete val="0"/>
        <c:axPos val="b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1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val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9D9D9"/>
              </a:solidFill>
              <a:prstDash val="solid"/>
              <a:round/>
            </a:ln>
          </c:spPr>
        </c:majorGridlines>
        <c:numFmt formatCode="General" sourceLinked="0"/>
        <c:majorTickMark val="none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0F17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31520" y="1371600"/>
            <a:ext cx="54864" cy="41148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1005840" y="146304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PC26 · OBJECTIVE 1.1D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005840" y="1828800"/>
            <a:ext cx="758952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Shah Field</a:t>
            </a:r>
            <a:endParaRPr lang="en-US" sz="4000" dirty="0"/>
          </a:p>
          <a:p>
            <a:pPr indent="0" marL="0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De-Bottlenecking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1005840" y="3749040"/>
            <a:ext cx="75895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Quantified opportunity catalogue — surface,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7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subsurface &amp; water injection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005840" y="48463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TotalEnergies ALSG × ADNOC Onshore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1005840" y="51206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Asset Lead FP: Andrey Semenov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1005840" y="54406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Issued 2026-04-23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8778240" y="1554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8778240" y="18470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75,733</a:t>
            </a:r>
            <a:endParaRPr lang="en-US" sz="3800" dirty="0"/>
          </a:p>
        </p:txBody>
      </p:sp>
      <p:sp>
        <p:nvSpPr>
          <p:cNvPr id="12" name="Text 10"/>
          <p:cNvSpPr/>
          <p:nvPr/>
        </p:nvSpPr>
        <p:spPr>
          <a:xfrm>
            <a:off x="8778240" y="24688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 actual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778240" y="2926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POTENTIAL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8778240" y="32186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+10–12k</a:t>
            </a:r>
            <a:endParaRPr lang="en-US" sz="3800" dirty="0"/>
          </a:p>
        </p:txBody>
      </p:sp>
      <p:sp>
        <p:nvSpPr>
          <p:cNvPr id="15" name="Text 13"/>
          <p:cNvSpPr/>
          <p:nvPr/>
        </p:nvSpPr>
        <p:spPr>
          <a:xfrm>
            <a:off x="8778240" y="38404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 realistic 2026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778240" y="42976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8778240" y="4590288"/>
            <a:ext cx="29260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3800" dirty="0"/>
          </a:p>
        </p:txBody>
      </p:sp>
      <p:sp>
        <p:nvSpPr>
          <p:cNvPr id="18" name="Text 16"/>
          <p:cNvSpPr/>
          <p:nvPr/>
        </p:nvSpPr>
        <p:spPr>
          <a:xfrm>
            <a:off x="8778240" y="521208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de-bottlenecking initiatives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OVERVIEW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Executive Summary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6539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Shah Field De-Bottlenecking · TotalEnergies ALSG × ADNOC Onshore · 2026-04-23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019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22960"/>
            <a:ext cx="45720" cy="137160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CURRENT FAR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115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75,733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502920" y="1901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 actual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55264" y="82296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55264" y="822960"/>
            <a:ext cx="45720" cy="137160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92424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POTENTIAL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92424" y="1115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+10–12k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3392424" y="1901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 realistic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44768" y="82296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44768" y="822960"/>
            <a:ext cx="45720" cy="137160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81928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OPPORTUNITIES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81928" y="1115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</a:t>
            </a:r>
            <a:endParaRPr lang="en-US" sz="2800" dirty="0"/>
          </a:p>
        </p:txBody>
      </p:sp>
      <p:sp>
        <p:nvSpPr>
          <p:cNvPr id="23" name="Text 21"/>
          <p:cNvSpPr/>
          <p:nvPr/>
        </p:nvSpPr>
        <p:spPr>
          <a:xfrm>
            <a:off x="6281928" y="1901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subsurface · 2 surface · 1 cross-cut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34272" y="822960"/>
            <a:ext cx="2743200" cy="137160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34272" y="822960"/>
            <a:ext cx="45720" cy="137160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71432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DATA GAPS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71432" y="1115568"/>
            <a:ext cx="2560320" cy="868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9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9171432" y="190195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 report + IPM model top of list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2468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KEY FINDINGS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76148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2834640"/>
            <a:ext cx="3749040" cy="45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2907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SUBSURFACE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57200" y="32461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~32 strings flagged "Low PIP / stim required" by RM; 1.1C only covers 5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wells rate-capped to keep BHFP ≥ Pb+100 — drawdown headroom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Inter-reservoir water loss confirmed on 139-SS &amp; 145-SS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R1 under-injected ~5 kbwpd vs sustainable VRR</a:t>
            </a:r>
            <a:endParaRPr lang="en-US" sz="1100" dirty="0"/>
          </a:p>
        </p:txBody>
      </p:sp>
      <p:sp>
        <p:nvSpPr>
          <p:cNvPr id="34" name="Shape 32"/>
          <p:cNvSpPr/>
          <p:nvPr/>
        </p:nvSpPr>
        <p:spPr>
          <a:xfrm>
            <a:off x="4251960" y="2834640"/>
            <a:ext cx="3749040" cy="45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343400" y="2907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4343400" y="32461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22 strings ESP-limited not reservoir-limited (VSD-required)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14 strings already at 55–60 Hz — ESP upsize candidates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Surface back-pressure: 10 psi separator reduction ≈ +800 BOPD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FCT report pending — biggest tractable upside still unsized</a:t>
            </a:r>
            <a:endParaRPr lang="en-US" sz="1100" dirty="0"/>
          </a:p>
        </p:txBody>
      </p:sp>
      <p:sp>
        <p:nvSpPr>
          <p:cNvPr id="37" name="Shape 35"/>
          <p:cNvSpPr/>
          <p:nvPr/>
        </p:nvSpPr>
        <p:spPr>
          <a:xfrm>
            <a:off x="8138160" y="2834640"/>
            <a:ext cx="3749040" cy="4572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8229600" y="290779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 INJECTION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8229600" y="3246120"/>
            <a:ext cx="36576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SY-175 &amp; SY-180 stranded (16 kbwpd capacity) — WO in plan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Currently 53 / 71 kbwpd vs technical rate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Cluster #2 hard cap 25/26 Mbwpd binds Phase 2</a:t>
            </a:r>
            <a:endParaRPr lang="en-US" sz="1100" dirty="0"/>
          </a:p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12 high-WC producers cycle ~40 kbwpd of PW for ~960 BOPD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Field Baseline — Q2-2026 Allowable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6539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Shah Field De-Bottlenecking · TotalEnergies ALSG × ADNOC Onshore · 2026-04-23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019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 / 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OIL PRODUCTION (BOPD)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11" name="Chart 0" descr=""/>
          <p:cNvGraphicFramePr/>
          <p:nvPr/>
        </p:nvGraphicFramePr>
        <p:xfrm>
          <a:off x="365760" y="118872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2" name="Text 9"/>
          <p:cNvSpPr/>
          <p:nvPr/>
        </p:nvSpPr>
        <p:spPr>
          <a:xfrm>
            <a:off x="658368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 INJECTION (bwpd)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658368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83680" y="1188720"/>
          <a:ext cx="5394960" cy="914400"/>
        </p:xfrm>
        <a:graphic>
          <a:graphicData uri="http://schemas.openxmlformats.org/drawingml/2006/table">
            <a:tbl>
              <a:tblPr/>
              <a:tblGrid>
                <a:gridCol w="1737360"/>
                <a:gridCol w="822960"/>
                <a:gridCol w="822960"/>
                <a:gridCol w="1005840"/>
                <a:gridCol w="100584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Scenario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#1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#2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Actual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 SY-175 + 180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24,600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50,600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Without SY-175/180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19,000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45,000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53,000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Technical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42,200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28,800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b="1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71,000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i="1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Cluster physical cap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26,000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25,000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i="1" dirty="0">
                          <a:solidFill>
                            <a:srgbClr val="DC2626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hard cap</a:t>
                      </a:r>
                      <a:endParaRPr lang="en-US" sz="10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1000" dirty="0">
                          <a:solidFill>
                            <a:srgbClr val="64748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5" name="Shape 11"/>
          <p:cNvSpPr/>
          <p:nvPr/>
        </p:nvSpPr>
        <p:spPr>
          <a:xfrm>
            <a:off x="365760" y="5577840"/>
            <a:ext cx="11521440" cy="868680"/>
          </a:xfrm>
          <a:prstGeom prst="rect">
            <a:avLst/>
          </a:prstGeom>
          <a:solidFill>
            <a:srgbClr val="FEF3C7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502920" y="5650992"/>
            <a:ext cx="1124712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BASELINE READ 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Gap vs TR is 4,250 BOPD (5.6 %). Bigger prize sits between Allowable and the </a:t>
            </a:r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deliverability ceiling of ~102,752 BOPD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, which represents the sum of estimated max rates for all active strings — and is unlocked only by capacity uplifts in subsurface and surface infrastructure. WI under-delivery (53 / 71 kbwpd vs technical rate) is the single biggest binding constraint at sector level.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CLASSIFICATION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Bottleneck Map — 9 root-cause categories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6539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Shah Field De-Bottlenecking · TotalEnergies ALSG × ADNOC Onshore · 2026-04-23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019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 / 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BOTTOM-UP FROM RM COMMENT COLUMN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65760" y="1188720"/>
            <a:ext cx="3657600" cy="36576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12252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SUBSURFACE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65760" y="1645920"/>
            <a:ext cx="36576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65760" y="1645920"/>
            <a:ext cx="36576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75488" y="169164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S1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68680" y="1691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PIP / stim candidate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5488" y="1938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32 wells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600200" y="1938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12,000 BOPD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2240280"/>
            <a:ext cx="365760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2240280"/>
            <a:ext cx="36576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2860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S2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868680" y="2286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water cut (&gt;60 %)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5488" y="25328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38 wells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1600200" y="25328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7,000 BOPD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365760" y="2834640"/>
            <a:ext cx="36576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365760" y="2834640"/>
            <a:ext cx="36576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75488" y="28803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S3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86868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BHFP — Pb risk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5488" y="31272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wells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600200" y="3127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1,800 BOPD</a:t>
            </a:r>
            <a:endParaRPr lang="en-US" sz="900" dirty="0"/>
          </a:p>
        </p:txBody>
      </p:sp>
      <p:sp>
        <p:nvSpPr>
          <p:cNvPr id="31" name="Shape 29"/>
          <p:cNvSpPr/>
          <p:nvPr/>
        </p:nvSpPr>
        <p:spPr>
          <a:xfrm>
            <a:off x="365760" y="3429000"/>
            <a:ext cx="365760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365760" y="3429000"/>
            <a:ext cx="36576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347472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S4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868680" y="3474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Inactive — WO backlog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5488" y="3721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wells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1600200" y="37216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3,920 BOPD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65760" y="4023360"/>
            <a:ext cx="36576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365760" y="4023360"/>
            <a:ext cx="36576" cy="5486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75488" y="406908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S5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868680" y="406908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Reservoir P depletion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5488" y="431596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8 wells</a:t>
            </a:r>
            <a:endParaRPr lang="en-US" sz="900" dirty="0"/>
          </a:p>
        </p:txBody>
      </p:sp>
      <p:sp>
        <p:nvSpPr>
          <p:cNvPr id="42" name="Text 40"/>
          <p:cNvSpPr/>
          <p:nvPr/>
        </p:nvSpPr>
        <p:spPr>
          <a:xfrm>
            <a:off x="1600200" y="431596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5,000 BOPD</a:t>
            </a:r>
            <a:endParaRPr lang="en-US" sz="900" dirty="0"/>
          </a:p>
        </p:txBody>
      </p:sp>
      <p:sp>
        <p:nvSpPr>
          <p:cNvPr id="43" name="Shape 41"/>
          <p:cNvSpPr/>
          <p:nvPr/>
        </p:nvSpPr>
        <p:spPr>
          <a:xfrm>
            <a:off x="4251960" y="1188720"/>
            <a:ext cx="365760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389120" y="12252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/ COMPLETION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4251960" y="1645920"/>
            <a:ext cx="36576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251960" y="1645920"/>
            <a:ext cx="36576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361688" y="169164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C1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754880" y="1691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DP / VSD required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361688" y="1938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22 wells</a:t>
            </a:r>
            <a:endParaRPr lang="en-US" sz="900" dirty="0"/>
          </a:p>
        </p:txBody>
      </p:sp>
      <p:sp>
        <p:nvSpPr>
          <p:cNvPr id="50" name="Text 48"/>
          <p:cNvSpPr/>
          <p:nvPr/>
        </p:nvSpPr>
        <p:spPr>
          <a:xfrm>
            <a:off x="5486400" y="1938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6,500 BOPD</a:t>
            </a:r>
            <a:endParaRPr lang="en-US" sz="900" dirty="0"/>
          </a:p>
        </p:txBody>
      </p:sp>
      <p:sp>
        <p:nvSpPr>
          <p:cNvPr id="51" name="Shape 49"/>
          <p:cNvSpPr/>
          <p:nvPr/>
        </p:nvSpPr>
        <p:spPr>
          <a:xfrm>
            <a:off x="4251960" y="2240280"/>
            <a:ext cx="365760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4251960" y="2240280"/>
            <a:ext cx="36576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361688" y="22860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C2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4754880" y="2286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at max frequency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361688" y="25328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14 wells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5486400" y="25328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3,500 BOPD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4251960" y="2834640"/>
            <a:ext cx="36576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251960" y="2834640"/>
            <a:ext cx="36576" cy="5486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4361688" y="28803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C3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75488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Back-pressure (flowline)</a:t>
            </a:r>
            <a:endParaRPr lang="en-US" sz="1050" dirty="0"/>
          </a:p>
        </p:txBody>
      </p:sp>
      <p:sp>
        <p:nvSpPr>
          <p:cNvPr id="61" name="Text 59"/>
          <p:cNvSpPr/>
          <p:nvPr/>
        </p:nvSpPr>
        <p:spPr>
          <a:xfrm>
            <a:off x="4361688" y="31272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TBD</a:t>
            </a:r>
            <a:endParaRPr lang="en-US" sz="900" dirty="0"/>
          </a:p>
        </p:txBody>
      </p:sp>
      <p:sp>
        <p:nvSpPr>
          <p:cNvPr id="62" name="Text 60"/>
          <p:cNvSpPr/>
          <p:nvPr/>
        </p:nvSpPr>
        <p:spPr>
          <a:xfrm>
            <a:off x="5486400" y="3127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~2–4 kBOPD est.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138160" y="1188720"/>
            <a:ext cx="3657600" cy="36576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8275320" y="1225296"/>
            <a:ext cx="33832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WATER INJECTION</a:t>
            </a:r>
            <a:endParaRPr lang="en-US" sz="1100" dirty="0"/>
          </a:p>
        </p:txBody>
      </p:sp>
      <p:sp>
        <p:nvSpPr>
          <p:cNvPr id="65" name="Shape 63"/>
          <p:cNvSpPr/>
          <p:nvPr/>
        </p:nvSpPr>
        <p:spPr>
          <a:xfrm>
            <a:off x="8138160" y="1645920"/>
            <a:ext cx="36576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8138160" y="1645920"/>
            <a:ext cx="36576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8247888" y="169164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W1</a:t>
            </a:r>
            <a:endParaRPr lang="en-US" sz="1100" dirty="0"/>
          </a:p>
        </p:txBody>
      </p:sp>
      <p:sp>
        <p:nvSpPr>
          <p:cNvPr id="68" name="Text 66"/>
          <p:cNvSpPr/>
          <p:nvPr/>
        </p:nvSpPr>
        <p:spPr>
          <a:xfrm>
            <a:off x="8641080" y="169164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cap 26 Mbwpd</a:t>
            </a:r>
            <a:endParaRPr lang="en-US" sz="1050" dirty="0"/>
          </a:p>
        </p:txBody>
      </p:sp>
      <p:sp>
        <p:nvSpPr>
          <p:cNvPr id="69" name="Text 67"/>
          <p:cNvSpPr/>
          <p:nvPr/>
        </p:nvSpPr>
        <p:spPr>
          <a:xfrm>
            <a:off x="8247888" y="193852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—</a:t>
            </a:r>
            <a:endParaRPr lang="en-US" sz="900" dirty="0"/>
          </a:p>
        </p:txBody>
      </p:sp>
      <p:sp>
        <p:nvSpPr>
          <p:cNvPr id="70" name="Text 68"/>
          <p:cNvSpPr/>
          <p:nvPr/>
        </p:nvSpPr>
        <p:spPr>
          <a:xfrm>
            <a:off x="9372600" y="193852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physical ceiling</a:t>
            </a:r>
            <a:endParaRPr lang="en-US" sz="900" dirty="0"/>
          </a:p>
        </p:txBody>
      </p:sp>
      <p:sp>
        <p:nvSpPr>
          <p:cNvPr id="71" name="Shape 69"/>
          <p:cNvSpPr/>
          <p:nvPr/>
        </p:nvSpPr>
        <p:spPr>
          <a:xfrm>
            <a:off x="8138160" y="2240280"/>
            <a:ext cx="365760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8138160" y="2240280"/>
            <a:ext cx="36576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8247888" y="228600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W2</a:t>
            </a:r>
            <a:endParaRPr lang="en-US" sz="1100" dirty="0"/>
          </a:p>
        </p:txBody>
      </p:sp>
      <p:sp>
        <p:nvSpPr>
          <p:cNvPr id="74" name="Text 72"/>
          <p:cNvSpPr/>
          <p:nvPr/>
        </p:nvSpPr>
        <p:spPr>
          <a:xfrm>
            <a:off x="8641080" y="228600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 integrity 175/180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8247888" y="253288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wells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9372600" y="253288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16 kbwpd stranded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8138160" y="2834640"/>
            <a:ext cx="3657600" cy="548640"/>
          </a:xfrm>
          <a:prstGeom prst="rect">
            <a:avLst/>
          </a:prstGeom>
          <a:solidFill>
            <a:srgbClr val="FFFFFF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8138160" y="2834640"/>
            <a:ext cx="36576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8247888" y="288036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W3</a:t>
            </a:r>
            <a:endParaRPr lang="en-US" sz="1100" dirty="0"/>
          </a:p>
        </p:txBody>
      </p:sp>
      <p:sp>
        <p:nvSpPr>
          <p:cNvPr id="80" name="Text 78"/>
          <p:cNvSpPr/>
          <p:nvPr/>
        </p:nvSpPr>
        <p:spPr>
          <a:xfrm>
            <a:off x="8641080" y="288036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R1↔R2 water loss</a:t>
            </a:r>
            <a:endParaRPr lang="en-US" sz="1050" dirty="0"/>
          </a:p>
        </p:txBody>
      </p:sp>
      <p:sp>
        <p:nvSpPr>
          <p:cNvPr id="81" name="Text 79"/>
          <p:cNvSpPr/>
          <p:nvPr/>
        </p:nvSpPr>
        <p:spPr>
          <a:xfrm>
            <a:off x="8247888" y="312724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 wells</a:t>
            </a:r>
            <a:endParaRPr lang="en-US" sz="900" dirty="0"/>
          </a:p>
        </p:txBody>
      </p:sp>
      <p:sp>
        <p:nvSpPr>
          <p:cNvPr id="82" name="Text 80"/>
          <p:cNvSpPr/>
          <p:nvPr/>
        </p:nvSpPr>
        <p:spPr>
          <a:xfrm>
            <a:off x="9372600" y="312724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tracer needed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8138160" y="3429000"/>
            <a:ext cx="3657600" cy="548640"/>
          </a:xfrm>
          <a:prstGeom prst="rect">
            <a:avLst/>
          </a:prstGeom>
          <a:solidFill>
            <a:srgbClr val="F8FAFC"/>
          </a:solidFill>
          <a:ln w="5080">
            <a:solidFill>
              <a:srgbClr val="CBD5E1"/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8138160" y="3429000"/>
            <a:ext cx="36576" cy="5486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8247888" y="3474720"/>
            <a:ext cx="411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W4</a:t>
            </a:r>
            <a:endParaRPr lang="en-US" sz="1100" dirty="0"/>
          </a:p>
        </p:txBody>
      </p:sp>
      <p:sp>
        <p:nvSpPr>
          <p:cNvPr id="86" name="Text 84"/>
          <p:cNvSpPr/>
          <p:nvPr/>
        </p:nvSpPr>
        <p:spPr>
          <a:xfrm>
            <a:off x="8641080" y="3474720"/>
            <a:ext cx="310896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High-WC producers</a:t>
            </a:r>
            <a:endParaRPr lang="en-US" sz="1050" dirty="0"/>
          </a:p>
        </p:txBody>
      </p:sp>
      <p:sp>
        <p:nvSpPr>
          <p:cNvPr id="87" name="Text 85"/>
          <p:cNvSpPr/>
          <p:nvPr/>
        </p:nvSpPr>
        <p:spPr>
          <a:xfrm>
            <a:off x="8247888" y="3721608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 wells</a:t>
            </a:r>
            <a:endParaRPr lang="en-US" sz="900" dirty="0"/>
          </a:p>
        </p:txBody>
      </p:sp>
      <p:sp>
        <p:nvSpPr>
          <p:cNvPr id="88" name="Text 86"/>
          <p:cNvSpPr/>
          <p:nvPr/>
        </p:nvSpPr>
        <p:spPr>
          <a:xfrm>
            <a:off x="9372600" y="3721608"/>
            <a:ext cx="2377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PW loading</a:t>
            </a:r>
            <a:endParaRPr lang="en-US" sz="900" dirty="0"/>
          </a:p>
        </p:txBody>
      </p:sp>
      <p:sp>
        <p:nvSpPr>
          <p:cNvPr id="89" name="Text 87"/>
          <p:cNvSpPr/>
          <p:nvPr/>
        </p:nvSpPr>
        <p:spPr>
          <a:xfrm>
            <a:off x="365760" y="6263640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Note: Counts and BOPD-lost figures are RM-classified analytical estimates (§ANALYSIS BLOCK). C3 surface back-pressure pending Jan-2026 FCT report.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PRIORITIZATION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Consolidated Ranking &amp; Gain Bridge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6539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Shah Field De-Bottlenecking · TotalEnergies ALSG × ADNOC Onshore · 2026-04-23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019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 / 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RANKED BY 2026 REALISTIC GAIN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1188720"/>
          <a:ext cx="5760720" cy="914400"/>
        </p:xfrm>
        <a:graphic>
          <a:graphicData uri="http://schemas.openxmlformats.org/drawingml/2006/table">
            <a:tbl>
              <a:tblPr/>
              <a:tblGrid>
                <a:gridCol w="365760"/>
                <a:gridCol w="640080"/>
                <a:gridCol w="2194560"/>
                <a:gridCol w="1188720"/>
                <a:gridCol w="548640"/>
                <a:gridCol w="82296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ID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Opportunity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2026 BOPD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Conf.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Capex</a:t>
                      </a:r>
                      <a:endParaRPr lang="en-US" sz="90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A2540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§4.5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WI capacity (SY-175/180 + cluster)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2,500–4,000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M-H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$2–28M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§4.7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Surface back-pressure optimization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1,500–2,500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$0.2–8M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§4.6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PW redistribution + R1/R2 rebalance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2,000–2,400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$0.5–1.5M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§4.1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Stimulation roll-out beyond 1.1C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2,500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$8–12M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5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§4.3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VSD / PWS retrofit campaign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1,600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$2.4–4.8M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6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§4.4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ESP upsize (piggyback WOs)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$2.0–3.2M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7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§4.2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BHFP rate-cap relaxation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900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0891B2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M-H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$0.2–0.5M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59E0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A254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§4.8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00000"/>
                          </a:solidFill>
                        </a:rPr>
                        <a:t>Inactive-string reactivation</a:t>
                      </a:r>
                      <a:endParaRPr lang="en-US" sz="950" dirty="0"/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000000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1,000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16A34A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H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algn="r" indent="0" marL="0">
                        <a:buNone/>
                      </a:pPr>
                      <a:r>
                        <a:rPr lang="en-US" sz="900" dirty="0">
                          <a:solidFill>
                            <a:srgbClr val="64748B"/>
                          </a:solidFill>
                          <a:latin typeface="Consolas" pitchFamily="34" charset="0"/>
                          <a:ea typeface="Consolas" pitchFamily="34" charset="-122"/>
                          <a:cs typeface="Consolas" pitchFamily="34" charset="-120"/>
                        </a:rPr>
                        <a:t>$0.5–1.0M</a:t>
                      </a:r>
                      <a:endParaRPr lang="en-US" sz="900" dirty="0">
                        <a:latin typeface="Consolas" charset="0"/>
                        <a:ea typeface="Consolas" charset="0"/>
                        <a:cs typeface="Consolas" charset="0"/>
                      </a:endParaRPr>
                    </a:p>
                  </a:txBody>
                  <a:tcPr marL="91440" marR="91440" marT="45720" marB="45720" anchor="ctr">
                    <a:lnL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508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12" name="Shape 9"/>
          <p:cNvSpPr/>
          <p:nvPr/>
        </p:nvSpPr>
        <p:spPr>
          <a:xfrm>
            <a:off x="365760" y="5303520"/>
            <a:ext cx="5760720" cy="3657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457200" y="5330952"/>
            <a:ext cx="42062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realistic envelope (×0.75 overlap deduction)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4572000" y="5330952"/>
            <a:ext cx="146304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~9,600 BOPD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63093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GAIN BRIDGE — 75,733 → ~87,000 BOPD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630936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17" name="Chart 0" descr=""/>
          <p:cNvGraphicFramePr/>
          <p:nvPr/>
        </p:nvGraphicFramePr>
        <p:xfrm>
          <a:off x="6309360" y="1188720"/>
          <a:ext cx="5669280" cy="41148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18" name="Text 14"/>
          <p:cNvSpPr/>
          <p:nvPr/>
        </p:nvSpPr>
        <p:spPr>
          <a:xfrm>
            <a:off x="6309360" y="5349240"/>
            <a:ext cx="5669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+11,575 BOPD </a:t>
            </a:r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cumulative — within 10–12 kBOPD realistic envelope. §4.1+§4.3+§4.4 deflated ×0.75 for overlap.</a:t>
            </a:r>
            <a:endParaRPr lang="en-US" sz="1200" dirty="0"/>
          </a:p>
        </p:txBody>
      </p:sp>
      <p:sp>
        <p:nvSpPr>
          <p:cNvPr id="19" name="Shape 15"/>
          <p:cNvSpPr/>
          <p:nvPr/>
        </p:nvSpPr>
        <p:spPr>
          <a:xfrm>
            <a:off x="365760" y="5943600"/>
            <a:ext cx="11521440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502920" y="5989320"/>
            <a:ext cx="112471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Saih Rawl Shuaiba analog (SPE 68222): +6,300 BOPD on smaller system via WI rebalancing + automation — directly supports the §4.5/§4.6/§4.7 envelope.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OPPORTUNITY DEEP-DIVE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§4.5 — WI capacity uplift (SY-175 + SY-180 + cluster review)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6539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Shah Field De-Bottlenecking · TotalEnergies ALSG × ADNOC Onshore · 2026-04-23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019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22960"/>
            <a:ext cx="45720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14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REALISTIC GAIN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1155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2,500–4,000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17647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94560"/>
            <a:ext cx="4572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POTENTIAL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4871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4,000–5,500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66160"/>
            <a:ext cx="4572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CAPEX BRACKET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38587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$2–28M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4507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 · Med-High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11887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 (Q2/Q3-2026): Complete WO on SY-175 &amp; SY-180 to recover 16,000 bwpd stranded capacity. RM-mandated prerequisite: FCT in Cluster #2 / SY-148 WS before SY-180 commissioning to confirm Cluster #2 can handle the additional load (currently 19/28.8 kbwpd).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(2027): Cluster #2 capacity uplift study — if FCT confirms hard ceiling at 26 Mbwpd, evaluate pump/manifold capacity to lift to 35 Mbwpd.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(long-term): New WI well drilling if VRR confirms additional voidage to fill. Saih Rawl analog (SPE 68222): ~12 % oil rate uplift per 30 % WI rate increase.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23360" y="3474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PREREQUISITE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23360" y="376732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#2 / SY-148 WS FCT (single most important data request) · G2V2 ML#5 reservoir model · Voidage Replacement Ratio analysis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5029200"/>
            <a:ext cx="11521440" cy="1417320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0292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102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Phase 1 SY-175/180 WO execution immediately (capex already in plan). Commission FCT in CL02/SY-148 as RM-mandated prerequisite before SY-180 start-up. Stage Phase 2 cluster uplift decision pending FCT results.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OPPORTUNITY DEEP-DIVE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§4.7 — Surface back-pressure optimization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6539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Shah Field De-Bottlenecking · TotalEnergies ALSG × ADNOC Onshore · 2026-04-23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019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22960"/>
            <a:ext cx="45720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14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REALISTIC GAIN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1155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1,500–2,500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17647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94560"/>
            <a:ext cx="4572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POTENTIAL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4871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2,300–3,300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66160"/>
            <a:ext cx="4572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CAPEX BRACKET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38587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$0.2–8M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4507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 · Medium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11887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1: Station header pressure setpoint review at CDS / RDS-1 / RDS-2. Each 10 psi separator reduction across 80 R1 producers ≈ +800 BOPD via reduced WHFP and improved IPR/VLP intersection.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2: Selective flowline looping on 2-3 worst segments (&gt;200 psi/km ΔP). Phase 3: Choke-on-test vs production-choke alignment — many wells tested at higher chokes than routinely operated.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evidence pending FCT, but proxy indicators (full choke + ESP at 50 Hz + rate plateau, WHFT 150-162 °F) point to downstream restriction.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23360" y="3474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PREREQUISITE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23360" y="376732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January-2026 FCT report (single most important data request after Cluster #2 FCT) · GAP/Prosper IPM model · WHIP/WHFP-vs-time per well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5029200"/>
            <a:ext cx="11521440" cy="1417320"/>
          </a:xfrm>
          <a:prstGeom prst="rect">
            <a:avLst/>
          </a:prstGeom>
          <a:solidFill>
            <a:srgbClr val="8B4513"/>
          </a:solidFill>
          <a:ln w="12700">
            <a:solidFill>
              <a:srgbClr val="8B4513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0292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102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Hold quantification at pending-FCT estimate. Once FCT report lands, commission GAP/Prosper rerun with revised separator setpoints. Phase 1 is near-zero capex — pursue setpoint review as fast win.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OPPORTUNITY DEEP-DIVE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§4.6 — Produced-water redistribution + R1↔R2 rebalancing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6539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Shah Field De-Bottlenecking · TotalEnergies ALSG × ADNOC Onshore · 2026-04-23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019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22960"/>
            <a:ext cx="45720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14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REALISTIC GAIN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1155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2,000–2,400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17647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94560"/>
            <a:ext cx="4572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POTENTIAL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4871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2,400–3,200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66160"/>
            <a:ext cx="4572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CAPEX BRACKET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38587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$0.5–1.5M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4507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 · Medium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11887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(a) Inter-reservoir tracer + integrity diagnosis on 139-SS and 145-SS — RM explicitly flagged R1→R2 water loss; if confirmed, cement squeeze to restore zonal isolation.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(b) Rebalance injection R1/R2: R1 currently under-injected ~5 kbwpd vs sustainable VRR. Redirect 3-5 kbwpd from R2 to R1 once Cluster #2 integrity allows.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(c) Selective shut-in of 6 worst high-WC producers (&gt;85% WC) — collectively producing ~960 BOPD oil but consuming 40 kbwpd PW handling capacity. Net benefit: +1,200 BOPD elsewhere via better VRR.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23360" y="3474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PREREQUISITE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23360" y="376732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 lab analysis (TDS, scaling, particulates, H₂S) · Injector PLT / CBL on 139-SS, 145-SS · G2V2 rerun with rebalanced injection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5029200"/>
            <a:ext cx="11521440" cy="14173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0292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102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Greenlight low-capex tracer campaign immediately ($0.5-1.5M). Concurrent: identify the 6 high-WC shut-in candidates from the Wells table for FY-2026 decision. PW lab work is independent and can start at any time.</a:t>
            </a:r>
            <a:endParaRPr lang="en-US" sz="12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OPPORTUNITY DEEP-DIVE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§4.1 — Stimulation roll-out beyond Obj 1.1C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6539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Shah Field De-Bottlenecking · TotalEnergies ALSG × ADNOC Onshore · 2026-04-23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019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22960"/>
            <a:ext cx="45720" cy="12344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144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REALISTIC GAIN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1155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2,500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17647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1945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65760" y="2194560"/>
            <a:ext cx="45720" cy="12344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22860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FULL POTENTIAL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502920" y="24871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5,000–6,000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502920" y="31363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65760" y="3566160"/>
            <a:ext cx="3383280" cy="123444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65760" y="3566160"/>
            <a:ext cx="45720" cy="12344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657600"/>
            <a:ext cx="32004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CAPEX BRACKET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502920" y="3858768"/>
            <a:ext cx="3200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$8–12M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502920" y="4507992"/>
            <a:ext cx="3200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$M · Medium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40233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MECHANISM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02336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023360" y="1188720"/>
            <a:ext cx="7863840" cy="21031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32+ R1 strings flagged "Low intake / Low PIP / stim required" by RM. Obj 1.1C delivers stimulation on only 5 wells in 2026.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Apply proven Naphtha+HCl recipe to 8-10 additional R1 wells per year as sustained program. Target wells with PI degradation D &gt; 30 %/yr (1.1C methodology). Average gain +150 to +400 BOPD per well, declining 30 %/yr post-job.</a:t>
            </a: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endParaRPr lang="en-US" sz="115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backlog of 25 incremental candidates × 250 BOPD avg ≈ +6,000 BOPD at peak if all done within 18 months. Realistic 2026 deliverable: 10 incremental wells = +2,500 BOPD.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4023360" y="347472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PREREQUISITE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023360" y="376732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023360" y="3840480"/>
            <a:ext cx="786384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Per-well PI screening across 32 stim candidates (extension of 1.1C dashboard methodology)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365760" y="5029200"/>
            <a:ext cx="11521440" cy="1417320"/>
          </a:xfrm>
          <a:prstGeom prst="rect">
            <a:avLst/>
          </a:prstGeom>
          <a:solidFill>
            <a:srgbClr val="0E7F3F"/>
          </a:solidFill>
          <a:ln w="12700">
            <a:solidFill>
              <a:srgbClr val="0E7F3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365760" y="5029200"/>
            <a:ext cx="73152" cy="14173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48640" y="510235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RECOMMENDATION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5349240"/>
            <a:ext cx="11247120" cy="1051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Extend the Obj 1.1C dashboard with PI-degradation screening across all 32 RM-flagged candidates. Build Q3-2026 stim queue from top-D ranking. Schedule 10 wells for 2026, decision-gate the remaining 15 against 2026 results.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PLAN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Gaps &amp; Next Steps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6539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Shah Field De-Bottlenecking · TotalEnergies ALSG × ADNOC Onshore · 2026-04-23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019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10 / 12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657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CRITICAL DATA GAPS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6576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65760" y="118872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822960" y="118872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January-2026 FCT report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822960" y="137160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§4.7 cannot move past estimate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365760" y="157276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822960" y="157276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GAP/Prosper IPM model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822960" y="175564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Back-pressure sensitivities</a:t>
            </a:r>
            <a:endParaRPr lang="en-US" sz="950" dirty="0"/>
          </a:p>
        </p:txBody>
      </p:sp>
      <p:sp>
        <p:nvSpPr>
          <p:cNvPr id="17" name="Text 15"/>
          <p:cNvSpPr/>
          <p:nvPr/>
        </p:nvSpPr>
        <p:spPr>
          <a:xfrm>
            <a:off x="365760" y="195681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22960" y="195681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G2V2 reservoir model — ML#5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822960" y="213969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§4.5 oil response · §4.6 rebalancing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34086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822960" y="234086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#2 / SY-148 WS FCT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22960" y="252374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RM-mandated for SY-180 commissioning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2724912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822960" y="2724912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PIDs / PFDs / vendor sheets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22960" y="2907792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CDS, RDS-1/2, WI clusters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365760" y="3108960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06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822960" y="3108960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Produced water lab analysis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822960" y="3291840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§4.6 chemical design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365760" y="3493008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07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822960" y="3493008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WHIP/WHFP-vs-time per well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822960" y="3675888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§4.7 flowline hypothesis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3877056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08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822960" y="3877056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Injector PLT/CBL (139-SS, 145-SS)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822960" y="4059936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§4.6 (a) integrity diagnosis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365760" y="4261104"/>
            <a:ext cx="411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09</a:t>
            </a:r>
            <a:endParaRPr lang="en-US" sz="1200" dirty="0"/>
          </a:p>
        </p:txBody>
      </p:sp>
      <p:sp>
        <p:nvSpPr>
          <p:cNvPr id="36" name="Text 34"/>
          <p:cNvSpPr/>
          <p:nvPr/>
        </p:nvSpPr>
        <p:spPr>
          <a:xfrm>
            <a:off x="822960" y="4261104"/>
            <a:ext cx="292608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Per-well PI screening (32 candidates)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822960" y="4443984"/>
            <a:ext cx="502920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§4.1 backlog scoping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6309360" y="82296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EXECUTION TIMELINE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6309360" y="111556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6309360" y="1188720"/>
            <a:ext cx="960120" cy="10972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309360" y="1554480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Q2-26</a:t>
            </a:r>
            <a:endParaRPr lang="en-US" sz="1600" dirty="0"/>
          </a:p>
        </p:txBody>
      </p:sp>
      <p:sp>
        <p:nvSpPr>
          <p:cNvPr id="42" name="Shape 40"/>
          <p:cNvSpPr/>
          <p:nvPr/>
        </p:nvSpPr>
        <p:spPr>
          <a:xfrm>
            <a:off x="7315200" y="1234440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7360920" y="1325880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543800" y="124358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SY-175/180 WO start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7315200" y="1563624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7360920" y="1655064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7543800" y="15727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PW lab campaign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7315200" y="1892808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F59E0B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7360920" y="1984248"/>
            <a:ext cx="91440" cy="91440"/>
          </a:xfrm>
          <a:prstGeom prst="ellipse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7543800" y="190195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FCT submission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6309360" y="2395728"/>
            <a:ext cx="960120" cy="109728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309360" y="2761488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Q3-26</a:t>
            </a:r>
            <a:endParaRPr lang="en-US" sz="1600" dirty="0"/>
          </a:p>
        </p:txBody>
      </p:sp>
      <p:sp>
        <p:nvSpPr>
          <p:cNvPr id="53" name="Shape 51"/>
          <p:cNvSpPr/>
          <p:nvPr/>
        </p:nvSpPr>
        <p:spPr>
          <a:xfrm>
            <a:off x="7315200" y="2441448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7360920" y="2532888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7543800" y="245059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Tracer 139/145-SS</a:t>
            </a:r>
            <a:endParaRPr lang="en-US" sz="1000" dirty="0"/>
          </a:p>
        </p:txBody>
      </p:sp>
      <p:sp>
        <p:nvSpPr>
          <p:cNvPr id="56" name="Shape 54"/>
          <p:cNvSpPr/>
          <p:nvPr/>
        </p:nvSpPr>
        <p:spPr>
          <a:xfrm>
            <a:off x="7315200" y="2770632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7360920" y="2862072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7543800" y="277977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VSD retrofit kick-off</a:t>
            </a:r>
            <a:endParaRPr lang="en-US" sz="1000" dirty="0"/>
          </a:p>
        </p:txBody>
      </p:sp>
      <p:sp>
        <p:nvSpPr>
          <p:cNvPr id="59" name="Shape 57"/>
          <p:cNvSpPr/>
          <p:nvPr/>
        </p:nvSpPr>
        <p:spPr>
          <a:xfrm>
            <a:off x="7315200" y="3099816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0891B2"/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7360920" y="3191256"/>
            <a:ext cx="91440" cy="91440"/>
          </a:xfrm>
          <a:prstGeom prst="ellipse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7543800" y="310896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 WS sign-off</a:t>
            </a:r>
            <a:endParaRPr lang="en-US" sz="1000" dirty="0"/>
          </a:p>
        </p:txBody>
      </p:sp>
      <p:sp>
        <p:nvSpPr>
          <p:cNvPr id="62" name="Shape 60"/>
          <p:cNvSpPr/>
          <p:nvPr/>
        </p:nvSpPr>
        <p:spPr>
          <a:xfrm>
            <a:off x="6309360" y="3602736"/>
            <a:ext cx="960120" cy="109728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309360" y="3968496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Q4-26</a:t>
            </a:r>
            <a:endParaRPr lang="en-US" sz="1600" dirty="0"/>
          </a:p>
        </p:txBody>
      </p:sp>
      <p:sp>
        <p:nvSpPr>
          <p:cNvPr id="64" name="Shape 62"/>
          <p:cNvSpPr/>
          <p:nvPr/>
        </p:nvSpPr>
        <p:spPr>
          <a:xfrm>
            <a:off x="7315200" y="3648456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34D399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7360920" y="3739896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7543800" y="3657600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SY-180 commissioning</a:t>
            </a:r>
            <a:endParaRPr lang="en-US" sz="1000" dirty="0"/>
          </a:p>
        </p:txBody>
      </p:sp>
      <p:sp>
        <p:nvSpPr>
          <p:cNvPr id="67" name="Shape 65"/>
          <p:cNvSpPr/>
          <p:nvPr/>
        </p:nvSpPr>
        <p:spPr>
          <a:xfrm>
            <a:off x="7315200" y="3977640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34D399"/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7360920" y="4069080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7543800" y="3986784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Setpoint pilot</a:t>
            </a:r>
            <a:endParaRPr lang="en-US" sz="1000" dirty="0"/>
          </a:p>
        </p:txBody>
      </p:sp>
      <p:sp>
        <p:nvSpPr>
          <p:cNvPr id="70" name="Shape 68"/>
          <p:cNvSpPr/>
          <p:nvPr/>
        </p:nvSpPr>
        <p:spPr>
          <a:xfrm>
            <a:off x="7315200" y="4306824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34D399"/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7360920" y="4398264"/>
            <a:ext cx="91440" cy="91440"/>
          </a:xfrm>
          <a:prstGeom prst="ellipse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7543800" y="431596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 batch 1 (5 wells)</a:t>
            </a:r>
            <a:endParaRPr lang="en-US" sz="1000" dirty="0"/>
          </a:p>
        </p:txBody>
      </p:sp>
      <p:sp>
        <p:nvSpPr>
          <p:cNvPr id="73" name="Shape 71"/>
          <p:cNvSpPr/>
          <p:nvPr/>
        </p:nvSpPr>
        <p:spPr>
          <a:xfrm>
            <a:off x="6309360" y="4809744"/>
            <a:ext cx="960120" cy="109728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6309360" y="5175504"/>
            <a:ext cx="960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2027</a:t>
            </a:r>
            <a:endParaRPr lang="en-US" sz="1600" dirty="0"/>
          </a:p>
        </p:txBody>
      </p:sp>
      <p:sp>
        <p:nvSpPr>
          <p:cNvPr id="75" name="Shape 73"/>
          <p:cNvSpPr/>
          <p:nvPr/>
        </p:nvSpPr>
        <p:spPr>
          <a:xfrm>
            <a:off x="7315200" y="4855464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7360920" y="4946904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7543800" y="4864608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Cluster #2 uplift</a:t>
            </a:r>
            <a:endParaRPr lang="en-US" sz="1000" dirty="0"/>
          </a:p>
        </p:txBody>
      </p:sp>
      <p:sp>
        <p:nvSpPr>
          <p:cNvPr id="78" name="Shape 76"/>
          <p:cNvSpPr/>
          <p:nvPr/>
        </p:nvSpPr>
        <p:spPr>
          <a:xfrm>
            <a:off x="7315200" y="5184648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7360920" y="5276088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7543800" y="5193792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Stim batch 2 (5 wells)</a:t>
            </a:r>
            <a:endParaRPr lang="en-US" sz="1000" dirty="0"/>
          </a:p>
        </p:txBody>
      </p:sp>
      <p:sp>
        <p:nvSpPr>
          <p:cNvPr id="81" name="Shape 79"/>
          <p:cNvSpPr/>
          <p:nvPr/>
        </p:nvSpPr>
        <p:spPr>
          <a:xfrm>
            <a:off x="7315200" y="5513832"/>
            <a:ext cx="4572000" cy="274320"/>
          </a:xfrm>
          <a:prstGeom prst="rect">
            <a:avLst/>
          </a:prstGeom>
          <a:solidFill>
            <a:srgbClr val="FFFFFF"/>
          </a:solidFill>
          <a:ln w="8890">
            <a:solidFill>
              <a:srgbClr val="06B6D4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7360920" y="5605272"/>
            <a:ext cx="91440" cy="91440"/>
          </a:xfrm>
          <a:prstGeom prst="ellipse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7543800" y="5522976"/>
            <a:ext cx="4297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 upsizes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12191695" cy="502920"/>
          </a:xfrm>
          <a:prstGeom prst="rect">
            <a:avLst/>
          </a:prstGeom>
          <a:solidFill>
            <a:srgbClr val="0A2540"/>
          </a:solidFill>
          <a:ln w="12700">
            <a:solidFill>
              <a:srgbClr val="0A2540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118872"/>
            <a:ext cx="3657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spc="2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INVESTMENT VIEW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365760" y="292608"/>
            <a:ext cx="115214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Capex vs Gain — Prioritization Matrix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365760" y="6565392"/>
            <a:ext cx="114300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65760" y="6601968"/>
            <a:ext cx="8229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Shah Field De-Bottlenecking · TotalEnergies ALSG × ADNOC Onshore · 2026-04-23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0" y="6601968"/>
            <a:ext cx="82296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11 / 12</a:t>
            </a:r>
            <a:endParaRPr lang="en-US" sz="800" dirty="0"/>
          </a:p>
        </p:txBody>
      </p:sp>
      <p:sp>
        <p:nvSpPr>
          <p:cNvPr id="9" name="Shape 7"/>
          <p:cNvSpPr/>
          <p:nvPr/>
        </p:nvSpPr>
        <p:spPr>
          <a:xfrm>
            <a:off x="365760" y="822960"/>
            <a:ext cx="274320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65760" y="822960"/>
            <a:ext cx="45720" cy="118872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TOTAL CAPEX RANGE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502920" y="11155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$16–58M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2920" y="17190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8 opportunities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246120" y="822960"/>
            <a:ext cx="274320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246120" y="822960"/>
            <a:ext cx="45720" cy="1188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38328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2026 GAIN MIDPOINT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3383280" y="11155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~11,575</a:t>
            </a:r>
            <a:endParaRPr lang="en-US" sz="2200" dirty="0"/>
          </a:p>
        </p:txBody>
      </p:sp>
      <p:sp>
        <p:nvSpPr>
          <p:cNvPr id="18" name="Text 16"/>
          <p:cNvSpPr/>
          <p:nvPr/>
        </p:nvSpPr>
        <p:spPr>
          <a:xfrm>
            <a:off x="3383280" y="17190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BOPD with overlap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126480" y="822960"/>
            <a:ext cx="274320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26480" y="822960"/>
            <a:ext cx="45720" cy="118872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26364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 / BOPD AVERAGE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6263640" y="11155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$3,200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6263640" y="17190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weighted across all opps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9006840" y="822960"/>
            <a:ext cx="2743200" cy="1188720"/>
          </a:xfrm>
          <a:prstGeom prst="rect">
            <a:avLst/>
          </a:prstGeom>
          <a:solidFill>
            <a:srgbClr val="F8FAFC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822960"/>
            <a:ext cx="45720" cy="118872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44000" y="91440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spc="100" kern="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PAYBACK @ $80/bbl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9144000" y="1115568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 6 mo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9144000" y="1719072"/>
            <a:ext cx="25603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top 4 opportunities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365760" y="237744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1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CAPEX (X) vs GAIN (Y) — bubble = $/BOPD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365760" y="2670048"/>
            <a:ext cx="365760" cy="2286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graphicFrame>
        <p:nvGraphicFramePr>
          <p:cNvPr id="31" name="Chart 0" descr=""/>
          <p:cNvGraphicFramePr/>
          <p:nvPr/>
        </p:nvGraphicFramePr>
        <p:xfrm>
          <a:off x="365760" y="2743200"/>
          <a:ext cx="11521440" cy="33832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2" name="Text 29"/>
          <p:cNvSpPr/>
          <p:nvPr/>
        </p:nvSpPr>
        <p:spPr>
          <a:xfrm>
            <a:off x="365760" y="6263640"/>
            <a:ext cx="115214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§4.6 (PW redistribution) and §4.2 (BHFP relaxation) sit in the sweet spot: low capex, fast gain. §4.5 has the widest capex range because Phase 2 cluster uplift is contingent on FCT.</a:t>
            </a:r>
            <a:endParaRPr lang="en-US" sz="10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A25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548640" y="36576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CONCLUSIONS</a:t>
            </a:r>
            <a:endParaRPr lang="en-US" sz="1400" dirty="0"/>
          </a:p>
        </p:txBody>
      </p:sp>
      <p:sp>
        <p:nvSpPr>
          <p:cNvPr id="4" name="Text 2"/>
          <p:cNvSpPr/>
          <p:nvPr/>
        </p:nvSpPr>
        <p:spPr>
          <a:xfrm>
            <a:off x="548640" y="77724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Shah field can lift 10–12 kBOPD within 12 months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548640" y="141732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i="1" dirty="0">
                <a:solidFill>
                  <a:srgbClr val="94A3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with the right sequencing of subsurface, surface, and WI initiatives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48640" y="201168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01</a:t>
            </a:r>
            <a:endParaRPr lang="en-US" sz="2600" dirty="0"/>
          </a:p>
        </p:txBody>
      </p:sp>
      <p:sp>
        <p:nvSpPr>
          <p:cNvPr id="7" name="Shape 5"/>
          <p:cNvSpPr/>
          <p:nvPr/>
        </p:nvSpPr>
        <p:spPr>
          <a:xfrm>
            <a:off x="1097280" y="2011680"/>
            <a:ext cx="36576" cy="77724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1280160" y="201168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BIGGEST ABSOLUTE PRIZE IS WATER INJECTION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1280160" y="230428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§4.5 SY-175/180 + cluster review delivers 2.5–4 kBOPD realistic — the largest single contribution and a pre-requisite for sustained R1 pressure support. Already partially budgeted via WO plan.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548640" y="288036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02</a:t>
            </a:r>
            <a:endParaRPr lang="en-US" sz="2600" dirty="0"/>
          </a:p>
        </p:txBody>
      </p:sp>
      <p:sp>
        <p:nvSpPr>
          <p:cNvPr id="11" name="Shape 9"/>
          <p:cNvSpPr/>
          <p:nvPr/>
        </p:nvSpPr>
        <p:spPr>
          <a:xfrm>
            <a:off x="1097280" y="2880360"/>
            <a:ext cx="36576" cy="777240"/>
          </a:xfrm>
          <a:prstGeom prst="rect">
            <a:avLst/>
          </a:prstGeom>
          <a:solidFill>
            <a:srgbClr val="0891B2"/>
          </a:solidFill>
          <a:ln w="12700">
            <a:solidFill>
              <a:srgbClr val="0891B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1280160" y="288036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891B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SURFACE BACK-PRESSURE IS THE NEXT-LARGEST AND CHEAPEST WIN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280160" y="317296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§4.7 phase-1 setpoint review costs ~$0.2M and could deliver 1.5–2.5 kBOPD. But the entire envelope is hostage to the Jan-2026 FCT report and GAP/Prosper IPM model — both still missing. Single biggest data request.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48640" y="374904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03</a:t>
            </a:r>
            <a:endParaRPr lang="en-US" sz="2600" dirty="0"/>
          </a:p>
        </p:txBody>
      </p:sp>
      <p:sp>
        <p:nvSpPr>
          <p:cNvPr id="15" name="Shape 13"/>
          <p:cNvSpPr/>
          <p:nvPr/>
        </p:nvSpPr>
        <p:spPr>
          <a:xfrm>
            <a:off x="1097280" y="3749040"/>
            <a:ext cx="36576" cy="777240"/>
          </a:xfrm>
          <a:prstGeom prst="rect">
            <a:avLst/>
          </a:prstGeom>
          <a:solidFill>
            <a:srgbClr val="34D399"/>
          </a:solidFill>
          <a:ln w="12700">
            <a:solidFill>
              <a:srgbClr val="34D399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1280160" y="374904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34D399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PRODUCED-WATER REDISTRIBUTION IS A NEAR-ZERO-CAPEX OPP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1280160" y="404164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§4.6 R1↔R2 rebalancing + tracer integrity diagnosis on 139-SS/145-SS delivers ~2 kBOPD at $0.5–1.5M. Lowest-friction commercial recommendation — can start before FCT report lands.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548640" y="461772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04</a:t>
            </a:r>
            <a:endParaRPr lang="en-US" sz="2600" dirty="0"/>
          </a:p>
        </p:txBody>
      </p:sp>
      <p:sp>
        <p:nvSpPr>
          <p:cNvPr id="19" name="Shape 17"/>
          <p:cNvSpPr/>
          <p:nvPr/>
        </p:nvSpPr>
        <p:spPr>
          <a:xfrm>
            <a:off x="1097280" y="4617720"/>
            <a:ext cx="36576" cy="777240"/>
          </a:xfrm>
          <a:prstGeom prst="rect">
            <a:avLst/>
          </a:prstGeom>
          <a:solidFill>
            <a:srgbClr val="06B6D4"/>
          </a:solidFill>
          <a:ln w="12700">
            <a:solidFill>
              <a:srgbClr val="06B6D4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280160" y="461772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06B6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STIMULATION BACKLOG IS DEEPER THAN OBJ 1.1C SCOPE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1280160" y="491032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~32 R1 strings flagged "Low PIP / stim required" by RM. Obj 1.1C addresses 5. Sustained program of 8-10 wells/year via Naphtha+HCl recipe builds a +6 kBOPD asset over 18 months at $8-12M capex.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48640" y="5486400"/>
            <a:ext cx="45720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05</a:t>
            </a:r>
            <a:endParaRPr lang="en-US" sz="2600" dirty="0"/>
          </a:p>
        </p:txBody>
      </p:sp>
      <p:sp>
        <p:nvSpPr>
          <p:cNvPr id="23" name="Shape 21"/>
          <p:cNvSpPr/>
          <p:nvPr/>
        </p:nvSpPr>
        <p:spPr>
          <a:xfrm>
            <a:off x="1097280" y="5486400"/>
            <a:ext cx="36576" cy="777240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280160" y="5486400"/>
            <a:ext cx="10515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50" kern="0" dirty="0">
                <a:solidFill>
                  <a:srgbClr val="DC262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NINE CRITICAL DATA GAPS — FCT REPORT IS #1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1280160" y="5779008"/>
            <a:ext cx="10515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Until the Jan-2026 FCT report, the GAP/Prosper IPM model, and the G2V2 ML#5 forecast are received, §4.7 stays at "pending-FCT estimate" and §4.5 Phase 2 cluster uplift decision cannot be quantified.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0" y="6675120"/>
            <a:ext cx="12191695" cy="182880"/>
          </a:xfrm>
          <a:prstGeom prst="rect">
            <a:avLst/>
          </a:prstGeom>
          <a:solidFill>
            <a:srgbClr val="F59E0B"/>
          </a:solidFill>
          <a:ln w="12700">
            <a:solidFill>
              <a:srgbClr val="F59E0B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Shah Field De-Bottlenecking — PC26 Obj 1.1D</dc:title>
  <dc:subject>PC26 1.1D</dc:subject>
  <dc:creator>TotalEnergies ALSG × ADNOC Onshore</dc:creator>
  <cp:lastModifiedBy>TotalEnergies ALSG × ADNOC Onshore</cp:lastModifiedBy>
  <cp:revision>1</cp:revision>
  <dcterms:created xsi:type="dcterms:W3CDTF">2026-05-19T16:21:42Z</dcterms:created>
  <dcterms:modified xsi:type="dcterms:W3CDTF">2026-05-19T16:21:42Z</dcterms:modified>
</cp:coreProperties>
</file>