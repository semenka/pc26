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BOPD</c:v>
                </c:pt>
              </c:strCache>
            </c:strRef>
          </c:tx>
          <c:spPr>
            <a:solidFill>
              <a:srgbClr val="F59E0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Actual (FAR)</c:v>
                  </c:pt>
                  <c:pt idx="1">
                    <c:v>Allowable</c:v>
                  </c:pt>
                  <c:pt idx="2">
                    <c:v>TR</c:v>
                  </c:pt>
                  <c:pt idx="3">
                    <c:v>Allow w/ Inactive</c:v>
                  </c:pt>
                  <c:pt idx="4">
                    <c:v>Deliv. ceiling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75733</c:v>
                </c:pt>
                <c:pt idx="1">
                  <c:v>76671</c:v>
                </c:pt>
                <c:pt idx="2">
                  <c:v>79983</c:v>
                </c:pt>
                <c:pt idx="3">
                  <c:v>80591</c:v>
                </c:pt>
                <c:pt idx="4">
                  <c:v>102752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wells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  <c:pt idx="3">
                    <c:v>S4</c:v>
                  </c:pt>
                  <c:pt idx="4">
                    <c:v>S5</c:v>
                  </c:pt>
                  <c:pt idx="5">
                    <c:v>C1</c:v>
                  </c:pt>
                  <c:pt idx="6">
                    <c:v>C2</c:v>
                  </c:pt>
                  <c:pt idx="7">
                    <c:v>C3</c:v>
                  </c:pt>
                  <c:pt idx="8">
                    <c:v>W1</c:v>
                  </c:pt>
                  <c:pt idx="9">
                    <c:v>W2</c:v>
                  </c:pt>
                  <c:pt idx="10">
                    <c:v>W3</c:v>
                  </c:pt>
                  <c:pt idx="11">
                    <c:v>W4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</c:v>
                </c:pt>
                <c:pt idx="1">
                  <c:v>55</c:v>
                </c:pt>
                <c:pt idx="2">
                  <c:v>10</c:v>
                </c:pt>
                <c:pt idx="3">
                  <c:v>9</c:v>
                </c:pt>
                <c:pt idx="4">
                  <c:v>1</c:v>
                </c:pt>
                <c:pt idx="5">
                  <c:v>17</c:v>
                </c:pt>
                <c:pt idx="6">
                  <c:v>13</c:v>
                </c:pt>
                <c:pt idx="7">
                  <c:v>12</c:v>
                </c:pt>
                <c:pt idx="8">
                  <c:v>0</c:v>
                </c:pt>
                <c:pt idx="9">
                  <c:v>2</c:v>
                </c:pt>
                <c:pt idx="10">
                  <c:v>2</c:v>
                </c:pt>
                <c:pt idx="1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BOPD lost vs SH cap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S1 stim</c:v>
                  </c:pt>
                  <c:pt idx="1">
                    <c:v>S2 high WC</c:v>
                  </c:pt>
                  <c:pt idx="2">
                    <c:v>S3 low BHFP</c:v>
                  </c:pt>
                  <c:pt idx="3">
                    <c:v>S4 inactive</c:v>
                  </c:pt>
                  <c:pt idx="4">
                    <c:v>S5 depletion</c:v>
                  </c:pt>
                  <c:pt idx="5">
                    <c:v>C1 VSD req</c:v>
                  </c:pt>
                  <c:pt idx="6">
                    <c:v>C2 ESP max</c:v>
                  </c:pt>
                  <c:pt idx="7">
                    <c:v>C3 back-pres.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12000</c:v>
                </c:pt>
                <c:pt idx="1">
                  <c:v>7000</c:v>
                </c:pt>
                <c:pt idx="2">
                  <c:v>1800</c:v>
                </c:pt>
                <c:pt idx="3">
                  <c:v>3920</c:v>
                </c:pt>
                <c:pt idx="4">
                  <c:v>5000</c:v>
                </c:pt>
                <c:pt idx="5">
                  <c:v>6500</c:v>
                </c:pt>
                <c:pt idx="6">
                  <c:v>3500</c:v>
                </c:pt>
                <c:pt idx="7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BOPD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A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Start</c:v>
                  </c:pt>
                  <c:pt idx="1">
                    <c:v>§4.5</c:v>
                  </c:pt>
                  <c:pt idx="2">
                    <c:v>§4.7</c:v>
                  </c:pt>
                  <c:pt idx="3">
                    <c:v>§4.6</c:v>
                  </c:pt>
                  <c:pt idx="4">
                    <c:v>§4.1</c:v>
                  </c:pt>
                  <c:pt idx="5">
                    <c:v>§4.3</c:v>
                  </c:pt>
                  <c:pt idx="6">
                    <c:v>§4.4</c:v>
                  </c:pt>
                  <c:pt idx="7">
                    <c:v>§4.2</c:v>
                  </c:pt>
                  <c:pt idx="8">
                    <c:v>§4.8</c:v>
                  </c:pt>
                  <c:pt idx="9">
                    <c:v>Envelope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75733</c:v>
                </c:pt>
                <c:pt idx="1">
                  <c:v>78233</c:v>
                </c:pt>
                <c:pt idx="2">
                  <c:v>79733</c:v>
                </c:pt>
                <c:pt idx="3">
                  <c:v>81733</c:v>
                </c:pt>
                <c:pt idx="4">
                  <c:v>83608</c:v>
                </c:pt>
                <c:pt idx="5">
                  <c:v>84808</c:v>
                </c:pt>
                <c:pt idx="6">
                  <c:v>85408</c:v>
                </c:pt>
                <c:pt idx="7">
                  <c:v>86308</c:v>
                </c:pt>
                <c:pt idx="8">
                  <c:v>87308</c:v>
                </c:pt>
                <c:pt idx="9">
                  <c:v>87308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A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75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0"/>
            <a:ext cx="3108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188720"/>
            <a:ext cx="113687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Objective 1.1D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1136873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 Field De-Bottlenecking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7889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&amp; subsurface opportunities · quantified catalogue · 2026 envelope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3383280"/>
            <a:ext cx="2286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20440"/>
            <a:ext cx="113687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TotalEnergies ALSG × ADNOC Onshore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Lead FP: Andrey Semenov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19-May-2026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937760"/>
            <a:ext cx="256032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83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75,733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field actual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4937760"/>
            <a:ext cx="256032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983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+10–12k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5623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2026 envelope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7880" y="4937760"/>
            <a:ext cx="256032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4983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35040" y="5623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4937760"/>
            <a:ext cx="2560320" cy="1097280"/>
          </a:xfrm>
          <a:prstGeom prst="rect">
            <a:avLst/>
          </a:prstGeom>
          <a:solidFill>
            <a:srgbClr val="0F172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983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778240" y="5623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blocking final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77724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77724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9235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CURRENT FAR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11612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75,733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6072" y="1801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Q1-2026 · vs 79,983 TR (–5.6%)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77724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777240"/>
            <a:ext cx="269748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3410712" y="9235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2026 UPLIFT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0712" y="11612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+10–12k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10712" y="1801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 field oil within 12 months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77724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77724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9235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CATALOGUED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5352" y="11612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45352" y="1801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subsurface · 2 surface · 1 cross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15400" y="77724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777240"/>
            <a:ext cx="2697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9079992" y="92354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GAPS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79992" y="11612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079992" y="18013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 + IPM model top of list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468880"/>
            <a:ext cx="11368735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2971800"/>
            <a:ext cx="366765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2971800"/>
            <a:ext cx="3667658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08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Sub-surface levers dominate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" y="3685032"/>
            <a:ext cx="337505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124 active strings, 36 are stim candidates (S1) and 55 are &gt;60% WC (S2).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VRR is the upstream control variable — restoring SY-175 + SY-180 unlocks +16,000 bwpd of stranded injection.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Saih Rawl analog (SPE 68222): +12% oil per +30% WI at mature waterflood.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62018" y="2971800"/>
            <a:ext cx="366765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62018" y="2971800"/>
            <a:ext cx="3667658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399178" y="3108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side under-quantified — pending FCT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26610" y="3685032"/>
            <a:ext cx="337505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back-pressure estimate (+1.5–2.5 kBOPD) carries widest uncertainty.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10 psi separator-pressure cut ≈ +800 BOPD across 80 R1 producers.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GAP/Prosper IPM model + Jan-2026 FCT report are blocking inputs.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12557" y="2971800"/>
            <a:ext cx="366765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2557" y="2971800"/>
            <a:ext cx="3667658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8249717" y="310896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path: front-load WI uplift + VSD retrofits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77149" y="3685032"/>
            <a:ext cx="337505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by 2026 gain: §4.5 WI capacity, §4.7 back-pressure, §4.6 PW redistribution.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VSD/PWS retrofit (§4.3) is highest-confidence — proven on 10 wells already.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25% overlap deduction, realistic 2026 envelope ~10,000–12,000 BOPD.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baseline — Allowable, TR, Actual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Baseline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85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(BOPD)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00584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0" y="6858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INJECTION (bwpd)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05840"/>
          <a:ext cx="54406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960120"/>
                <a:gridCol w="96012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 SY-175 + SY-180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w/o SY-175 + SY-180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physical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11480" y="4846320"/>
            <a:ext cx="11368735" cy="3200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4" name="Text 10"/>
          <p:cNvSpPr/>
          <p:nvPr/>
        </p:nvSpPr>
        <p:spPr>
          <a:xfrm>
            <a:off x="539496" y="484632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4,250 BOPD under-TR (5.6%). WI under-injecting by ~18,000 bwpd vs technical — SY-175/180 alone recovers ~16,000.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534924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Q2-2026 Allowable file, sheet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Q2-2026 OP Allowable RM_Upd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(rows 11–134) and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Q2-2026 WI Allowable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Inactive strings booked at 3,920 BOPD.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5760720"/>
            <a:ext cx="2750744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5806440"/>
            <a:ext cx="2567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vs TR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5989320"/>
            <a:ext cx="2567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4,250 BOPD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253664" y="5760720"/>
            <a:ext cx="2750744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45104" y="5806440"/>
            <a:ext cx="2567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Under-WI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345104" y="5989320"/>
            <a:ext cx="2567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18,000 bwpd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095848" y="5760720"/>
            <a:ext cx="2750744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87288" y="5806440"/>
            <a:ext cx="2567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classed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187288" y="5989320"/>
            <a:ext cx="2567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 active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938031" y="5760720"/>
            <a:ext cx="2750744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29471" y="5806440"/>
            <a:ext cx="2567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booked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9029471" y="5989320"/>
            <a:ext cx="2567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3,920 BOPD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map — 9 root causes from RM comments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Classification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13232"/>
          <a:ext cx="69494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331720"/>
                <a:gridCol w="1508760"/>
                <a:gridCol w="685800"/>
                <a:gridCol w="960120"/>
                <a:gridCol w="960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BOPD lost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PIP / stim candidate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WC (&gt;60%)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§4.6 + 1.2A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BHFP / close to Pb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— WO backlog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§4.8 + 1.1B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P depletion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ΔP choke / VSD req.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Surface/Completion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 at max frequency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back-pressure (proxy)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cap 25/26 Mbwpd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§4.5 Ph2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 integrity (SY-175, SY-180)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16k bwpd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§4.5 Ph1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R1↔R2 inter-reservoir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§4.6 (a)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High-WC producers loading PW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§4.6 (c)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per category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80960" y="100584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02920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" y="502920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producer-side categories + 4 WI-side categories. Strings can fall into multiple categories — counts are not mutually exclusive.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11480" y="5532120"/>
            <a:ext cx="113687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category: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(stim candidates) at 36 wells × ~12,000 BOPD lost vs SH cap; addressed by §4.1 (Obj 1.1C extension) + selective §4.2 work.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category C3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(back-pressure proxy) is unquantified pending the Jan-2026 FCT report — represents the largest analytical uncertainty.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stack — wells &amp; BOPD lost by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Quantification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4,250 BOPD TR-gap (+ further upside) comes from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1480" y="1097280"/>
          <a:ext cx="6858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5440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C3 surface back-pressure is a midpoint proxy (2,000-4,000 BOPD), pending FCT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680960" y="1005840"/>
            <a:ext cx="4069080" cy="329184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0"/>
          <p:cNvSpPr/>
          <p:nvPr/>
        </p:nvSpPr>
        <p:spPr>
          <a:xfrm>
            <a:off x="7808976" y="10058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OPPORTUNITY MAP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150876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0" y="1508760"/>
            <a:ext cx="73152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3"/>
          <p:cNvSpPr/>
          <p:nvPr/>
        </p:nvSpPr>
        <p:spPr>
          <a:xfrm>
            <a:off x="7845552" y="1554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+ S3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235440" y="15544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§4.1 stim + §4.2 BHFP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680960" y="201168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0" y="2011680"/>
            <a:ext cx="73152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7845552" y="2057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+ W4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235440" y="20574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§4.6 PW redistribution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680960" y="251460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2514600"/>
            <a:ext cx="73152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1"/>
          <p:cNvSpPr/>
          <p:nvPr/>
        </p:nvSpPr>
        <p:spPr>
          <a:xfrm>
            <a:off x="7845552" y="2560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235440" y="2560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§4.8 reactivation accel.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680960" y="301752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0" y="3017520"/>
            <a:ext cx="73152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5"/>
          <p:cNvSpPr/>
          <p:nvPr/>
        </p:nvSpPr>
        <p:spPr>
          <a:xfrm>
            <a:off x="7845552" y="3063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+ W1-3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235440" y="3063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§4.5 WI capacity uplift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680960" y="352044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0" y="3520440"/>
            <a:ext cx="7315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29"/>
          <p:cNvSpPr/>
          <p:nvPr/>
        </p:nvSpPr>
        <p:spPr>
          <a:xfrm>
            <a:off x="7845552" y="3566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235440" y="35661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§4.3 VSD/PWS retrofit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680960" y="402336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80960" y="4023360"/>
            <a:ext cx="73152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Text 33"/>
          <p:cNvSpPr/>
          <p:nvPr/>
        </p:nvSpPr>
        <p:spPr>
          <a:xfrm>
            <a:off x="7845552" y="4069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235440" y="40690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§4.4 ESP upsize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680960" y="4526280"/>
            <a:ext cx="40690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80960" y="452628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7"/>
          <p:cNvSpPr/>
          <p:nvPr/>
        </p:nvSpPr>
        <p:spPr>
          <a:xfrm>
            <a:off x="7845552" y="4572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9235440" y="45720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§4.7 back-pressure (FCT)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0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Allowable RM-comment row maps to ≥1 category. 124 strings → ~210 category hits → 8 quantified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§4.5 — WI capacity uplift (SY-175 + SY-180 + cluster review)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1/4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Subsurface / Water Injection · Confidence: Med-High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97280"/>
            <a:ext cx="54864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207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GAIN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4813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+2,500–4,000 BOPD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79192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POTENTIAL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+4,000–5,500 BOPD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4261104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61104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4370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BRACKET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46451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$2–28M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49040" y="109728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38988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481328"/>
            <a:ext cx="80311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(Q2/Q3-2026): complete the WO on SY-175 + SY-180 to recover 16,000 bwpd of stranded injection capacity. RM warns to run an FCT in Cluster #2 / SY-148 WS before SY-180 commissioning (current 19,000 bwpd vs 28,800 bwpd technical).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(2027): Cluster #2 capacity uplift study if FCT confirms 26 Mbwpd ceiling — evaluate manifold/pump capacity addition to 35 Mbwpd.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new WI well drilling if reservoir VRR analysis confirms incremental voidage to fill. Saih Rawl analog (SPE 68222): +12% oil rate per +30% WI rate at mature waterflood.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416052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DATA /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45312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544568"/>
            <a:ext cx="803117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 / SY-148 WS FCT (RM-mandated before SY-180 commissioning) · G2V2 ML#5 reservoir forecast · sector VRR breakdown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Front-load Phase 1 in Q2/Q3-2026 — single largest 2026 gain ($2-3M capex, +2,500-4,000 BOPD). Phase 2 conditional on FCT outcome.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§4.7 — Surface back-pressure optimization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2/4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· KoM focus area · Confidence: Medium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97280"/>
            <a:ext cx="54864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207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GAIN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4813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+1,500–2,500 BOPD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79192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POTENTIAL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+2,300–3,300 BOPD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4261104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61104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4370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BRACKET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46451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$0.2–8M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49040" y="109728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38988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481328"/>
            <a:ext cx="80311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 explicit ask — proxy indicators from Allowable: wells at full choke, ESP at 50 Hz with rate plateauing (downstream restriction); WHFT 150-162°F (high flowline pressure); non-uniform separator pressure.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station header setpoint review (CDS / RDS-1 / RDS-2). Each 10 psi separator cut ≈ +800 BOPD across 80 R1 producers.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flowline looping on 2-3 worst segments (&gt;200 psi/km ΔP).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choke-on-test vs production-choke bias alignment.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416052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DATA /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45312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544568"/>
            <a:ext cx="803117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January-2026 FCT report (BLOCKING) · GAP/Prosper IPM surface model · WHIP/WHFP-vs-time per well · CDS/RDS PFD &amp; PIDs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Phase 1 ($0.2M control changes) achievable in &lt;90 days once FCT lands. Surface CapEx slate for Phase 2 to be scoped after Q3-2026 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§4.6 — Produced-water redistribution + R1↔R2 rebalancing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3/4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Subsurface / WI · Confidence: Medium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97280"/>
            <a:ext cx="54864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207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GAIN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4813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+2,000–2,400 BOPD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79192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POTENTIAL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+2,400–3,200 BOPD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4261104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61104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4370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BRACKET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46451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$0.5–1.5M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49040" y="109728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38988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481328"/>
            <a:ext cx="80311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Tracer + integrity diagnosis on 139-SS &amp; 145-SS — RM flagged "Water loss to R2 likely occurring due to communication between reservoir units". Confirm with chemical tracers, remediate with cement squeeze if zonal isolation lost.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Rebalance 3,000-5,000 bwpd from R2 → R1 (R2 receives 27,000 vs 34,500 target; R1-C only at 18,000 vs 20,500 target).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Selective shut-in / rate reduction on 6 worst &gt;85% WC producers — frees ~20,000 bwpd PW capacity, improves sector VRR.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416052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DATA /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45312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544568"/>
            <a:ext cx="803117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 lab analysis (TDS, scaling, particulates, H₂S) · injector PLT/CBL on 139-SS and 145-SS · G2V2 rerun with re-balanced injection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Low-cost / high-leverage. Sequence tracer campaign Q3-2026 — integrity findings drive cement-squeeze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§4.1 — Stimulation roll-out beyond Obj 1.1C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4/4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658368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Subsurface · Confidence: Medium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97280"/>
            <a:ext cx="54864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" y="1207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GAIN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1481328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+2,500 BOPD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79192"/>
            <a:ext cx="54864" cy="1417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2788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POTENTIAL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30632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+5,000–6,000 BOPD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4261104"/>
            <a:ext cx="29260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261104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43708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BRACKET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464515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$8–12M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49040" y="109728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49040" y="138988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481328"/>
            <a:ext cx="80311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32+ R1 strings flagged "Low intake / Low PIP / stim required" by RM. Obj 1.1C scopes only 5. Apply proven Naphtha + HCl recipe to 8-10 additional R1 wells per year as a sustained program.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wells with PI degradation D &gt; 30%/yr (extend the 1.1C dashboard methodology). Average gain +150-400 BOPD per well, 30%/yr decline post-job. Backlog of 25 candidates × 250 BOPD avg ≈ +6,000 BOPD at peak.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49040" y="4160520"/>
            <a:ext cx="80311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DATA /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453128"/>
            <a:ext cx="8031175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544568"/>
            <a:ext cx="803117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Per-well PI screening across 32 stim candidates (1.1C dashboard extension) · workover-rig availability schedule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Commission 10-well stim program for Q3-2026 → Q4-2027. Coordinate with Obj 1.1C to avoid double-counting the 5 wells already in plan.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ranking &amp; gain bridge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Roadmap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73152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423160"/>
                <a:gridCol w="1325880"/>
                <a:gridCol w="1234440"/>
                <a:gridCol w="59436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realistic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§4.5 WI capacity (SY-175/180 + cluster)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+2,500–4,000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+4,000–5,500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§4.7 Surface back-pressure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+1,500–2,500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+2,300–3,300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→ $$$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§4.6 PW redistribution + R1/R2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+2,400–3,200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§4.1 Stim roll-out beyond 1.1C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+5,000–6,000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§4.3 VSD/PWS retrofit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+3,300–5,500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§4.4 ESP upsize (piggyback WO)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§4.2 BHFP cap relaxation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§4.8 Inactive-string reactivation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 in 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406640" y="71323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BRIDGE — current → 2026 envelope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06640" y="1024128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303520"/>
            <a:ext cx="11368735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539496" y="5303520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envelope (after 25% overlap deduction on §4.1+§4.3+§4.4): 11,575 BOPD uplift → 87,308 BOPD total (+15%)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5760720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to Saih Rawl Shuaiba debottlenecking (SPE 68222 analog): +6,300 BOPD on a smaller system via choke automation + WI redistribution.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gaps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88375" y="45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Roadmap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6492240"/>
            <a:ext cx="1136873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 · TotalEnergies ALSG × ADNOC Onshore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82935" y="654710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71323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CRITICAL DATA ITEMS REQUIRED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2926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January-2026 FCT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§4.7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GAP/Prosper IPM surface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§4.7 &amp; §4.2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G2V2 reservoir model — ML#5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§4.5 &amp; §4.6 oil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#2 / SY-148 WS FCT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SY-180 commissioning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PIDs / PFDs / vendor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CDS, RDS-1, RDS-2, WI clusters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Produced water lab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TDS, scaling, particulates, H₂S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WHIP/WHFP-vs-time per well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§4.7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Injector PLT/CBL (139-SS, 145-SS)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§4.6 (a) integrity hypothesis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Per-well PI screening (32 cands.)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§4.1 scoping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040880" y="713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NEXT 90 DAYS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26680" y="1353312"/>
            <a:ext cx="3383280" cy="54864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Shape 10"/>
          <p:cNvSpPr/>
          <p:nvPr/>
        </p:nvSpPr>
        <p:spPr>
          <a:xfrm>
            <a:off x="7589520" y="126187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1581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86600" y="185623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PIDs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717280" y="1261872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5800" y="1581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d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14360" y="185623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Per-well 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(§4.1)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845040" y="1261872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33560" y="1581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42120" y="185623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GAP/Prosper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972800" y="126187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61320" y="1581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469880" y="185623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Technical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40880" y="2834640"/>
            <a:ext cx="4754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040880" y="2834640"/>
            <a:ext cx="4754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7178040" y="29260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Q3-2026 Technical WS — agenda highlights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69480" y="3291840"/>
            <a:ext cx="42976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9-category bottleneck map vs AON internal 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§4.3 VSD retrofit shortlist &amp; 2026 execution sequence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FCT findings; align on §4.7 surface back-pressure priorities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§4.6 tracer campaign scope (139-SS, 145-SS first)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§4.1 stim backlog with Obj 1.1C selected 5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opportunity list with executive owners per item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11480" y="5852160"/>
            <a:ext cx="11368735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" y="5852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#1–4 are blockers for tightening the §4.5 and §4.7 estimates — the two largest 2026 opportunities.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2615" y="45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PC26 · Obj 1.1D · Shah De-Bottlenecking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14400"/>
            <a:ext cx="5501488" cy="1005840"/>
          </a:xfrm>
          <a:prstGeom prst="roundRect">
            <a:avLst>
              <a:gd name="adj" fmla="val 3636"/>
            </a:avLst>
          </a:prstGeom>
          <a:solidFill>
            <a:srgbClr val="0F1B2E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024128"/>
            <a:ext cx="449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under-delivering TR by 4,250 BOPD (5.6%) — bottleneck spread across subsurface (60%) and surface/WI (40%).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914400"/>
            <a:ext cx="5501488" cy="1005840"/>
          </a:xfrm>
          <a:prstGeom prst="roundRect">
            <a:avLst>
              <a:gd name="adj" fmla="val 3636"/>
            </a:avLst>
          </a:prstGeom>
          <a:solidFill>
            <a:srgbClr val="0F1B2E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5888" y="10515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47408" y="1024128"/>
            <a:ext cx="449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realistic uplift envelope is +10,000–12,000 BOPD (+13%), comparable to Saih Rawl Shuaiba (SPE 68222) outcome.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194560"/>
            <a:ext cx="5501488" cy="1005840"/>
          </a:xfrm>
          <a:prstGeom prst="roundRect">
            <a:avLst>
              <a:gd name="adj" fmla="val 3636"/>
            </a:avLst>
          </a:prstGeom>
          <a:solidFill>
            <a:srgbClr val="0F1B2E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304288"/>
            <a:ext cx="449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2026 lever is §4.5 WI capacity uplift (SY-175/180 + Cluster #2): +2,500–4,000 BOPD at $2–3M Phase 1 capex.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194560"/>
            <a:ext cx="5501488" cy="1005840"/>
          </a:xfrm>
          <a:prstGeom prst="roundRect">
            <a:avLst>
              <a:gd name="adj" fmla="val 3636"/>
            </a:avLst>
          </a:prstGeom>
          <a:solidFill>
            <a:srgbClr val="0F1B2E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5888" y="23317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15888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47408" y="2304288"/>
            <a:ext cx="449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Highest-confidence quick win is §4.3 VSD/PWS retrofit: +1,600 BOPD at $2.4–4.8M, mechanism proven on 10 Shah wells.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474720"/>
            <a:ext cx="5501488" cy="1005840"/>
          </a:xfrm>
          <a:prstGeom prst="roundRect">
            <a:avLst>
              <a:gd name="adj" fmla="val 3636"/>
            </a:avLst>
          </a:prstGeom>
          <a:solidFill>
            <a:srgbClr val="0F1B2E"/>
          </a:solidFill>
          <a:ln w="508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118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584448"/>
            <a:ext cx="449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quantification blocked by 4 data items — Jan-2026 FCT report is the single most important data request.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8182B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263640"/>
            <a:ext cx="12191695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6355080"/>
            <a:ext cx="11368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checkpoint: Q3-2026 Technical Workshop — opportunity sign-off + owner assignment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PC26 1.1D — Shah De-Bottlenecking</dc:title>
  <dc:subject>PptxGenJS Presentation</dc:subject>
  <dc:creator>TotalEnergies ALSG × ADNOC Onshore</dc:creator>
  <cp:lastModifiedBy>TotalEnergies ALSG × ADNOC Onshore</cp:lastModifiedBy>
  <cp:revision>1</cp:revision>
  <dcterms:created xsi:type="dcterms:W3CDTF">2026-05-19T16:21:04Z</dcterms:created>
  <dcterms:modified xsi:type="dcterms:W3CDTF">2026-05-19T16:21:04Z</dcterms:modified>
</cp:coreProperties>
</file>